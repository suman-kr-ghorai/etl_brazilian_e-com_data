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8229600" cx="14630400"/>
  <p:notesSz cx="8229600" cy="14630400"/>
  <p:embeddedFontLst>
    <p:embeddedFont>
      <p:font typeface="Montserrat"/>
      <p:bold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id9fIz9LrRUStxPSrAVIISH+KpB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0FEB36F-434B-43E3-A6BA-41DDFBB3F984}">
  <a:tblStyle styleId="{90FEB36F-434B-43E3-A6BA-41DDFBB3F984}" styleName="Table_0">
    <a:wholeTbl>
      <a:tcTxStyle b="off" i="off">
        <a:font>
          <a:latin typeface="Trebuchet MS"/>
          <a:ea typeface="Trebuchet MS"/>
          <a:cs typeface="Trebuchet MS"/>
        </a:font>
        <a:schemeClr val="dk1"/>
      </a:tcTxStyle>
      <a:tcStyle>
        <a:tcBdr>
          <a:left>
            <a:ln cap="flat" cmpd="sng" w="12700">
              <a:solidFill>
                <a:schemeClr val="accent6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accent6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accent6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accent6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accent6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accent6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EEDED"/>
          </a:solidFill>
        </a:fill>
      </a:tcStyle>
    </a:wholeTbl>
    <a:band1H>
      <a:tcTxStyle/>
      <a:tcStyle>
        <a:fill>
          <a:solidFill>
            <a:srgbClr val="DCDADA"/>
          </a:solidFill>
        </a:fill>
      </a:tcStyle>
    </a:band1H>
    <a:band2H>
      <a:tcTxStyle/>
    </a:band2H>
    <a:band1V>
      <a:tcTxStyle/>
      <a:tcStyle>
        <a:fill>
          <a:solidFill>
            <a:srgbClr val="DCDADA"/>
          </a:solidFill>
        </a:fill>
      </a:tcStyle>
    </a:band1V>
    <a:band2V>
      <a:tcTxStyle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25400">
              <a:solidFill>
                <a:schemeClr val="accent6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EEEDED"/>
          </a:solidFill>
        </a:fill>
      </a:tcStyle>
    </a:lastRow>
    <a:seCell>
      <a:tcTxStyle/>
    </a:seCell>
    <a:swCell>
      <a:tcTxStyle/>
    </a:swCell>
    <a:firstRow>
      <a:tcTxStyle b="on" i="off"/>
      <a:tcStyle>
        <a:fill>
          <a:solidFill>
            <a:srgbClr val="EEEDED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customschemas.google.com/relationships/presentationmetadata" Target="meta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Montserrat-boldItalic.fntdata"/><Relationship Id="rId6" Type="http://schemas.openxmlformats.org/officeDocument/2006/relationships/slide" Target="slides/slide1.xml"/><Relationship Id="rId18" Type="http://schemas.openxmlformats.org/officeDocument/2006/relationships/font" Target="fonts/Montserrat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/>
              <a:t>‹#›</a:t>
            </a:fld>
            <a:endParaRPr b="0" i="0" sz="1200" u="none" cap="none" strike="noStrike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3b135bed8a_1_246:notes"/>
          <p:cNvSpPr txBox="1"/>
          <p:nvPr>
            <p:ph idx="1" type="body"/>
          </p:nvPr>
        </p:nvSpPr>
        <p:spPr>
          <a:xfrm>
            <a:off x="822960" y="7040880"/>
            <a:ext cx="6583800" cy="57609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g33b135bed8a_1_246:notes"/>
          <p:cNvSpPr/>
          <p:nvPr>
            <p:ph idx="2" type="sldImg"/>
          </p:nvPr>
        </p:nvSpPr>
        <p:spPr>
          <a:xfrm>
            <a:off x="822960" y="1828800"/>
            <a:ext cx="6583800" cy="4937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3b135bed8a_2_0:notes"/>
          <p:cNvSpPr txBox="1"/>
          <p:nvPr>
            <p:ph idx="1" type="body"/>
          </p:nvPr>
        </p:nvSpPr>
        <p:spPr>
          <a:xfrm>
            <a:off x="822960" y="7040880"/>
            <a:ext cx="6583800" cy="57609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g33b135bed8a_2_0:notes"/>
          <p:cNvSpPr/>
          <p:nvPr>
            <p:ph idx="2" type="sldImg"/>
          </p:nvPr>
        </p:nvSpPr>
        <p:spPr>
          <a:xfrm>
            <a:off x="822960" y="1828800"/>
            <a:ext cx="6583800" cy="4937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" name="Google Shape;12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3b135bed8a_1_0:notes"/>
          <p:cNvSpPr txBox="1"/>
          <p:nvPr>
            <p:ph idx="1" type="body"/>
          </p:nvPr>
        </p:nvSpPr>
        <p:spPr>
          <a:xfrm>
            <a:off x="822960" y="7040880"/>
            <a:ext cx="6583800" cy="57609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g33b135bed8a_1_0:notes"/>
          <p:cNvSpPr/>
          <p:nvPr>
            <p:ph idx="2" type="sldImg"/>
          </p:nvPr>
        </p:nvSpPr>
        <p:spPr>
          <a:xfrm>
            <a:off x="822960" y="1828800"/>
            <a:ext cx="6583800" cy="4937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" name="Google Shape;17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9" name="Google Shape;189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3b135bed8a_1_25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3b135bed8a_1_25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g33b135bed8a_1_25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 master">
  <p:cSld name="Slide 1 master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1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" name="Google Shape;13;p10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2 master">
  <p:cSld name="Slide 2 mast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1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7" name="Google Shape;17;p11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3 master">
  <p:cSld name="Slide 3 master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1" name="Google Shape;21;p12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4 master">
  <p:cSld name="Slide 4 mast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1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" name="Google Shape;25;p13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5 master">
  <p:cSld name="Slide 5 master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1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9" name="Google Shape;29;p14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6 master">
  <p:cSld name="Slide 6 mast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1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3" name="Google Shape;33;p15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7 master">
  <p:cSld name="Slide 7 mast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1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7" name="Google Shape;37;p16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8 master">
  <p:cSld name="Slide 8 mast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1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1" name="Google Shape;41;p17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g33b135bed8a_1_110"/>
          <p:cNvSpPr txBox="1"/>
          <p:nvPr>
            <p:ph type="title"/>
          </p:nvPr>
        </p:nvSpPr>
        <p:spPr>
          <a:xfrm>
            <a:off x="1097280" y="581558"/>
            <a:ext cx="12435900" cy="193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025" lIns="134100" spcFirstLastPara="1" rIns="134100" wrap="square" tIns="670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●"/>
              <a:defRPr sz="2100"/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5" name="Google Shape;45;g33b135bed8a_1_110"/>
          <p:cNvSpPr txBox="1"/>
          <p:nvPr>
            <p:ph idx="1" type="body"/>
          </p:nvPr>
        </p:nvSpPr>
        <p:spPr>
          <a:xfrm>
            <a:off x="1097280" y="2545690"/>
            <a:ext cx="12435900" cy="4861200"/>
          </a:xfrm>
          <a:prstGeom prst="rect">
            <a:avLst/>
          </a:prstGeom>
          <a:noFill/>
          <a:ln>
            <a:noFill/>
          </a:ln>
        </p:spPr>
        <p:txBody>
          <a:bodyPr anchorCtr="0" anchor="t" bIns="67025" lIns="134100" spcFirstLastPara="1" rIns="134100" wrap="square" tIns="67025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SzPts val="2200"/>
              <a:buChar char="●"/>
              <a:defRPr sz="2100"/>
            </a:lvl1pPr>
            <a:lvl2pPr indent="-3683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200"/>
              <a:buChar char="○"/>
              <a:defRPr sz="2100"/>
            </a:lvl2pPr>
            <a:lvl3pPr indent="-3683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200"/>
              <a:buChar char="■"/>
              <a:defRPr sz="2100"/>
            </a:lvl3pPr>
            <a:lvl4pPr indent="-368300" lvl="3" marL="18288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200"/>
              <a:buChar char="●"/>
              <a:defRPr sz="2100"/>
            </a:lvl4pPr>
            <a:lvl5pPr indent="-368300" lvl="4" marL="22860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200"/>
              <a:buChar char="○"/>
              <a:defRPr sz="2100"/>
            </a:lvl5pPr>
            <a:lvl6pPr indent="-3683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200"/>
              <a:buChar char="■"/>
              <a:defRPr sz="2100"/>
            </a:lvl6pPr>
            <a:lvl7pPr indent="-368300" lvl="6" marL="3200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200"/>
              <a:buChar char="●"/>
              <a:defRPr sz="2100"/>
            </a:lvl7pPr>
            <a:lvl8pPr indent="-368300" lvl="7" marL="3657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200"/>
              <a:buChar char="○"/>
              <a:defRPr sz="2100"/>
            </a:lvl8pPr>
            <a:lvl9pPr indent="-368300" lvl="8" marL="4114800" algn="l">
              <a:lnSpc>
                <a:spcPct val="90000"/>
              </a:lnSpc>
              <a:spcBef>
                <a:spcPts val="600"/>
              </a:spcBef>
              <a:spcAft>
                <a:spcPts val="300"/>
              </a:spcAft>
              <a:buSzPts val="2200"/>
              <a:buChar char="■"/>
              <a:defRPr sz="2100"/>
            </a:lvl9pPr>
          </a:lstStyle>
          <a:p/>
        </p:txBody>
      </p:sp>
      <p:sp>
        <p:nvSpPr>
          <p:cNvPr id="46" name="Google Shape;46;g33b135bed8a_1_110"/>
          <p:cNvSpPr txBox="1"/>
          <p:nvPr>
            <p:ph idx="10" type="dt"/>
          </p:nvPr>
        </p:nvSpPr>
        <p:spPr>
          <a:xfrm>
            <a:off x="9587789" y="7527342"/>
            <a:ext cx="3928200" cy="4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025" lIns="134100" spcFirstLastPara="1" rIns="134100" wrap="square" tIns="670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7" name="Google Shape;47;g33b135bed8a_1_110"/>
          <p:cNvSpPr txBox="1"/>
          <p:nvPr>
            <p:ph idx="11" type="ftr"/>
          </p:nvPr>
        </p:nvSpPr>
        <p:spPr>
          <a:xfrm>
            <a:off x="1097280" y="7527342"/>
            <a:ext cx="7593000" cy="4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025" lIns="134100" spcFirstLastPara="1" rIns="134100" wrap="square" tIns="670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8" name="Google Shape;48;g33b135bed8a_1_110"/>
          <p:cNvSpPr txBox="1"/>
          <p:nvPr>
            <p:ph idx="12" type="sldNum"/>
          </p:nvPr>
        </p:nvSpPr>
        <p:spPr>
          <a:xfrm>
            <a:off x="13573354" y="7527342"/>
            <a:ext cx="768000" cy="4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025" lIns="134100" spcFirstLastPara="1" rIns="134100" wrap="square" tIns="67025">
            <a:noAutofit/>
          </a:bodyPr>
          <a:lstStyle>
            <a:lvl1pPr indent="0" lvl="0" marL="0" algn="ctr">
              <a:spcBef>
                <a:spcPts val="0"/>
              </a:spcBef>
              <a:buNone/>
              <a:defRPr sz="2100"/>
            </a:lvl1pPr>
            <a:lvl2pPr indent="0" lvl="1" marL="0" algn="ctr">
              <a:spcBef>
                <a:spcPts val="0"/>
              </a:spcBef>
              <a:buNone/>
              <a:defRPr sz="2100"/>
            </a:lvl2pPr>
            <a:lvl3pPr indent="0" lvl="2" marL="0" algn="ctr">
              <a:spcBef>
                <a:spcPts val="0"/>
              </a:spcBef>
              <a:buNone/>
              <a:defRPr sz="2100"/>
            </a:lvl3pPr>
            <a:lvl4pPr indent="0" lvl="3" marL="0" algn="ctr">
              <a:spcBef>
                <a:spcPts val="0"/>
              </a:spcBef>
              <a:buNone/>
              <a:defRPr sz="2100"/>
            </a:lvl4pPr>
            <a:lvl5pPr indent="0" lvl="4" marL="0" algn="ctr">
              <a:spcBef>
                <a:spcPts val="0"/>
              </a:spcBef>
              <a:buNone/>
              <a:defRPr sz="2100"/>
            </a:lvl5pPr>
            <a:lvl6pPr indent="0" lvl="5" marL="0" algn="ctr">
              <a:spcBef>
                <a:spcPts val="0"/>
              </a:spcBef>
              <a:buNone/>
              <a:defRPr sz="2100"/>
            </a:lvl6pPr>
            <a:lvl7pPr indent="0" lvl="6" marL="0" algn="ctr">
              <a:spcBef>
                <a:spcPts val="0"/>
              </a:spcBef>
              <a:buNone/>
              <a:defRPr sz="2100"/>
            </a:lvl7pPr>
            <a:lvl8pPr indent="0" lvl="7" marL="0" algn="ctr">
              <a:spcBef>
                <a:spcPts val="0"/>
              </a:spcBef>
              <a:buNone/>
              <a:defRPr sz="2100"/>
            </a:lvl8pPr>
            <a:lvl9pPr indent="0" lvl="8" marL="0" algn="ctr">
              <a:spcBef>
                <a:spcPts val="0"/>
              </a:spcBef>
              <a:buNone/>
              <a:defRPr sz="21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3b135bed8a_1_226"/>
          <p:cNvSpPr/>
          <p:nvPr/>
        </p:nvSpPr>
        <p:spPr>
          <a:xfrm>
            <a:off x="1105002" y="1616336"/>
            <a:ext cx="12267300" cy="96900"/>
          </a:xfrm>
          <a:prstGeom prst="rect">
            <a:avLst/>
          </a:prstGeom>
          <a:blipFill rotWithShape="1">
            <a:blip r:embed="rId2">
              <a:alphaModFix amt="80000"/>
            </a:blip>
            <a:tile algn="ctr" flip="xy" tx="0" sx="92002" ty="-762000" sy="89002"/>
          </a:blipFill>
          <a:ln>
            <a:noFill/>
          </a:ln>
        </p:spPr>
        <p:txBody>
          <a:bodyPr anchorCtr="0" anchor="ctr" bIns="134100" lIns="134100" spcFirstLastPara="1" rIns="134100" wrap="square" tIns="134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g33b135bed8a_1_226"/>
          <p:cNvSpPr/>
          <p:nvPr/>
        </p:nvSpPr>
        <p:spPr>
          <a:xfrm>
            <a:off x="1105002" y="5139316"/>
            <a:ext cx="12267300" cy="96900"/>
          </a:xfrm>
          <a:prstGeom prst="rect">
            <a:avLst/>
          </a:prstGeom>
          <a:blipFill rotWithShape="1">
            <a:blip r:embed="rId2">
              <a:alphaModFix amt="80000"/>
            </a:blip>
            <a:tile algn="ctr" flip="xy" tx="0" sx="92002" ty="-717550" sy="89002"/>
          </a:blipFill>
          <a:ln>
            <a:noFill/>
          </a:ln>
        </p:spPr>
        <p:txBody>
          <a:bodyPr anchorCtr="0" anchor="ctr" bIns="134100" lIns="134100" spcFirstLastPara="1" rIns="134100" wrap="square" tIns="134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g33b135bed8a_1_226"/>
          <p:cNvSpPr/>
          <p:nvPr/>
        </p:nvSpPr>
        <p:spPr>
          <a:xfrm>
            <a:off x="1105002" y="1781735"/>
            <a:ext cx="12267300" cy="3291900"/>
          </a:xfrm>
          <a:prstGeom prst="rect">
            <a:avLst/>
          </a:prstGeom>
          <a:blipFill rotWithShape="1">
            <a:blip r:embed="rId2">
              <a:alphaModFix amt="80000"/>
            </a:blip>
            <a:tile algn="ctr" flip="xy" tx="0" sx="92002" ty="-704850" sy="89002"/>
          </a:blipFill>
          <a:ln>
            <a:noFill/>
          </a:ln>
        </p:spPr>
        <p:txBody>
          <a:bodyPr anchorCtr="0" anchor="ctr" bIns="134100" lIns="134100" spcFirstLastPara="1" rIns="134100" wrap="square" tIns="134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3" name="Google Shape;53;g33b135bed8a_1_226"/>
          <p:cNvGrpSpPr/>
          <p:nvPr/>
        </p:nvGrpSpPr>
        <p:grpSpPr>
          <a:xfrm>
            <a:off x="11576290" y="4928641"/>
            <a:ext cx="1463106" cy="1097330"/>
            <a:chOff x="9685338" y="4460675"/>
            <a:chExt cx="1080900" cy="1080900"/>
          </a:xfrm>
        </p:grpSpPr>
        <p:sp>
          <p:nvSpPr>
            <p:cNvPr id="54" name="Google Shape;54;g33b135bed8a_1_226"/>
            <p:cNvSpPr/>
            <p:nvPr/>
          </p:nvSpPr>
          <p:spPr>
            <a:xfrm>
              <a:off x="9685338" y="4460675"/>
              <a:ext cx="1080900" cy="1080900"/>
            </a:xfrm>
            <a:prstGeom prst="ellipse">
              <a:avLst/>
            </a:prstGeom>
            <a:blipFill rotWithShape="1">
              <a:blip r:embed="rId3">
                <a:alphaModFix/>
              </a:blip>
              <a:tile algn="tl" flip="none" tx="0" sx="84997" ty="0" sy="84997"/>
            </a:blipFill>
            <a:ln>
              <a:noFill/>
            </a:ln>
          </p:spPr>
          <p:txBody>
            <a:bodyPr anchorCtr="0" anchor="ctr" bIns="134100" lIns="134100" spcFirstLastPara="1" rIns="134100" wrap="square" tIns="1341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g33b135bed8a_1_226"/>
            <p:cNvSpPr/>
            <p:nvPr/>
          </p:nvSpPr>
          <p:spPr>
            <a:xfrm>
              <a:off x="9793429" y="4568765"/>
              <a:ext cx="864600" cy="864600"/>
            </a:xfrm>
            <a:prstGeom prst="ellipse">
              <a:avLst/>
            </a:prstGeom>
            <a:noFill/>
            <a:ln cap="flat" cmpd="sng" w="254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134100" lIns="134100" spcFirstLastPara="1" rIns="134100" wrap="square" tIns="1341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6" name="Google Shape;56;g33b135bed8a_1_226"/>
          <p:cNvSpPr txBox="1"/>
          <p:nvPr>
            <p:ph type="ctrTitle"/>
          </p:nvPr>
        </p:nvSpPr>
        <p:spPr>
          <a:xfrm>
            <a:off x="1261872" y="1718668"/>
            <a:ext cx="11960100" cy="3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025" lIns="134100" spcFirstLastPara="1" rIns="134100" wrap="square" tIns="67025">
            <a:no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9700"/>
              <a:buFont typeface="Georgia"/>
              <a:buChar char="●"/>
              <a:defRPr b="1" sz="9700" cap="none"/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7" name="Google Shape;57;g33b135bed8a_1_226"/>
          <p:cNvSpPr txBox="1"/>
          <p:nvPr>
            <p:ph idx="1" type="subTitle"/>
          </p:nvPr>
        </p:nvSpPr>
        <p:spPr>
          <a:xfrm>
            <a:off x="1283818" y="5266944"/>
            <a:ext cx="9469500" cy="1283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025" lIns="134100" spcFirstLastPara="1" rIns="134100" wrap="square" tIns="67025">
            <a:normAutofit/>
          </a:bodyPr>
          <a:lstStyle>
            <a:lvl1pPr lvl="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SzPts val="2200"/>
              <a:buNone/>
              <a:defRPr b="0" sz="26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200"/>
              <a:buNone/>
              <a:defRPr sz="2600"/>
            </a:lvl2pPr>
            <a:lvl3pPr lvl="2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200"/>
              <a:buNone/>
              <a:defRPr sz="2600"/>
            </a:lvl3pPr>
            <a:lvl4pPr lvl="3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200"/>
              <a:buNone/>
              <a:defRPr sz="2600"/>
            </a:lvl4pPr>
            <a:lvl5pPr lvl="4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200"/>
              <a:buNone/>
              <a:defRPr sz="2600"/>
            </a:lvl5pPr>
            <a:lvl6pPr lvl="5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200"/>
              <a:buNone/>
              <a:defRPr sz="2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200"/>
              <a:buNone/>
              <a:defRPr sz="2600"/>
            </a:lvl7pPr>
            <a:lvl8pPr lvl="7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200"/>
              <a:buNone/>
              <a:defRPr sz="2600"/>
            </a:lvl8pPr>
            <a:lvl9pPr lvl="8" algn="ctr">
              <a:lnSpc>
                <a:spcPct val="90000"/>
              </a:lnSpc>
              <a:spcBef>
                <a:spcPts val="600"/>
              </a:spcBef>
              <a:spcAft>
                <a:spcPts val="300"/>
              </a:spcAft>
              <a:buSzPts val="2200"/>
              <a:buNone/>
              <a:defRPr sz="2600"/>
            </a:lvl9pPr>
          </a:lstStyle>
          <a:p/>
        </p:txBody>
      </p:sp>
      <p:sp>
        <p:nvSpPr>
          <p:cNvPr id="58" name="Google Shape;58;g33b135bed8a_1_226"/>
          <p:cNvSpPr txBox="1"/>
          <p:nvPr>
            <p:ph idx="10" type="dt"/>
          </p:nvPr>
        </p:nvSpPr>
        <p:spPr>
          <a:xfrm>
            <a:off x="9587789" y="7527342"/>
            <a:ext cx="3928200" cy="4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025" lIns="134100" spcFirstLastPara="1" rIns="134100" wrap="square" tIns="670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9" name="Google Shape;59;g33b135bed8a_1_226"/>
          <p:cNvSpPr txBox="1"/>
          <p:nvPr>
            <p:ph idx="11" type="ftr"/>
          </p:nvPr>
        </p:nvSpPr>
        <p:spPr>
          <a:xfrm>
            <a:off x="1097280" y="7527342"/>
            <a:ext cx="7593000" cy="4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025" lIns="134100" spcFirstLastPara="1" rIns="134100" wrap="square" tIns="670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0" name="Google Shape;60;g33b135bed8a_1_226"/>
          <p:cNvSpPr txBox="1"/>
          <p:nvPr>
            <p:ph idx="12" type="sldNum"/>
          </p:nvPr>
        </p:nvSpPr>
        <p:spPr>
          <a:xfrm>
            <a:off x="11590848" y="5072634"/>
            <a:ext cx="1432800" cy="76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025" lIns="134100" spcFirstLastPara="1" rIns="134100" wrap="square" tIns="67025">
            <a:noAutofit/>
          </a:bodyPr>
          <a:lstStyle>
            <a:lvl1pPr indent="0" lvl="0" marL="0" algn="ctr">
              <a:spcBef>
                <a:spcPts val="0"/>
              </a:spcBef>
              <a:buNone/>
              <a:defRPr b="1" i="0" sz="41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algn="ctr">
              <a:spcBef>
                <a:spcPts val="0"/>
              </a:spcBef>
              <a:buNone/>
              <a:defRPr b="1" i="0" sz="41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algn="ctr">
              <a:spcBef>
                <a:spcPts val="0"/>
              </a:spcBef>
              <a:buNone/>
              <a:defRPr b="1" i="0" sz="41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algn="ctr">
              <a:spcBef>
                <a:spcPts val="0"/>
              </a:spcBef>
              <a:buNone/>
              <a:defRPr b="1" i="0" sz="41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algn="ctr">
              <a:spcBef>
                <a:spcPts val="0"/>
              </a:spcBef>
              <a:buNone/>
              <a:defRPr b="1" i="0" sz="41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algn="ctr">
              <a:spcBef>
                <a:spcPts val="0"/>
              </a:spcBef>
              <a:buNone/>
              <a:defRPr b="1" i="0" sz="41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algn="ctr">
              <a:spcBef>
                <a:spcPts val="0"/>
              </a:spcBef>
              <a:buNone/>
              <a:defRPr b="1" i="0" sz="41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algn="ctr">
              <a:spcBef>
                <a:spcPts val="0"/>
              </a:spcBef>
              <a:buNone/>
              <a:defRPr b="1" i="0" sz="41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algn="ctr">
              <a:spcBef>
                <a:spcPts val="0"/>
              </a:spcBef>
              <a:buNone/>
              <a:defRPr b="1" i="0" sz="41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slide" Target="/ppt/slides/slide4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Relationship Id="rId3" Type="http://schemas.openxmlformats.org/officeDocument/2006/relationships/slide" Target="/ppt/slides/slide5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8.png"/><Relationship Id="rId5" Type="http://schemas.openxmlformats.org/officeDocument/2006/relationships/image" Target="../media/image12.png"/><Relationship Id="rId6" Type="http://schemas.openxmlformats.org/officeDocument/2006/relationships/image" Target="../media/image1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17.png"/><Relationship Id="rId5" Type="http://schemas.openxmlformats.org/officeDocument/2006/relationships/image" Target="../media/image15.png"/><Relationship Id="rId6" Type="http://schemas.openxmlformats.org/officeDocument/2006/relationships/image" Target="../media/image1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9.png"/><Relationship Id="rId4" Type="http://schemas.openxmlformats.org/officeDocument/2006/relationships/slide" Target="/ppt/slides/slide4.xml"/><Relationship Id="rId5" Type="http://schemas.openxmlformats.org/officeDocument/2006/relationships/slide" Target="/ppt/slides/slide9.xml"/><Relationship Id="rId6" Type="http://schemas.openxmlformats.org/officeDocument/2006/relationships/slide" Target="/ppt/slides/slide11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3b135bed8a_1_246"/>
          <p:cNvSpPr txBox="1"/>
          <p:nvPr>
            <p:ph type="ctrTitle"/>
          </p:nvPr>
        </p:nvSpPr>
        <p:spPr>
          <a:xfrm>
            <a:off x="1261872" y="1718668"/>
            <a:ext cx="11960100" cy="3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025" lIns="134100" spcFirstLastPara="1" rIns="134100" wrap="square" tIns="67025">
            <a:no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9700"/>
              <a:buFont typeface="Georgia"/>
              <a:buNone/>
            </a:pPr>
            <a:r>
              <a:rPr b="1" lang="en-US" sz="9700" cap="none"/>
              <a:t>ETL + Analytics for Brazilian E-Commerce</a:t>
            </a:r>
            <a:endParaRPr/>
          </a:p>
        </p:txBody>
      </p:sp>
      <p:sp>
        <p:nvSpPr>
          <p:cNvPr id="66" name="Google Shape;66;g33b135bed8a_1_246"/>
          <p:cNvSpPr txBox="1"/>
          <p:nvPr>
            <p:ph idx="1" type="subTitle"/>
          </p:nvPr>
        </p:nvSpPr>
        <p:spPr>
          <a:xfrm>
            <a:off x="1283818" y="5266944"/>
            <a:ext cx="9469500" cy="1283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025" lIns="134100" spcFirstLastPara="1" rIns="134100" wrap="square" tIns="6702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US"/>
              <a:t>Using Streamlit, BigQuery, Plotly</a:t>
            </a:r>
            <a:endParaRPr/>
          </a:p>
        </p:txBody>
      </p:sp>
      <p:sp>
        <p:nvSpPr>
          <p:cNvPr id="67" name="Google Shape;67;g33b135bed8a_1_246"/>
          <p:cNvSpPr txBox="1"/>
          <p:nvPr>
            <p:ph idx="12" type="sldNum"/>
          </p:nvPr>
        </p:nvSpPr>
        <p:spPr>
          <a:xfrm>
            <a:off x="11590848" y="5072634"/>
            <a:ext cx="1432800" cy="76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025" lIns="134100" spcFirstLastPara="1" rIns="134100" wrap="square" tIns="670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" name="Google Shape;68;g33b135bed8a_1_246"/>
          <p:cNvSpPr txBox="1"/>
          <p:nvPr/>
        </p:nvSpPr>
        <p:spPr>
          <a:xfrm>
            <a:off x="1125416" y="7403496"/>
            <a:ext cx="5064600" cy="535500"/>
          </a:xfrm>
          <a:prstGeom prst="rect">
            <a:avLst/>
          </a:prstGeom>
          <a:noFill/>
          <a:ln>
            <a:noFill/>
          </a:ln>
        </p:spPr>
        <p:txBody>
          <a:bodyPr anchorCtr="0" anchor="t" bIns="67025" lIns="134100" spcFirstLastPara="1" rIns="134100" wrap="square" tIns="670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sng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  <a:hlinkClick action="ppaction://hlinksldjump"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Contents</a:t>
            </a:r>
            <a:r>
              <a:rPr b="0" i="0" lang="en-US" sz="26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 sz="2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3b135bed8a_2_0"/>
          <p:cNvSpPr txBox="1"/>
          <p:nvPr>
            <p:ph type="title"/>
          </p:nvPr>
        </p:nvSpPr>
        <p:spPr>
          <a:xfrm>
            <a:off x="1755648" y="697870"/>
            <a:ext cx="19897500" cy="23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025" lIns="134100" spcFirstLastPara="1" rIns="134100" wrap="square" tIns="6702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</a:pPr>
            <a:r>
              <a:rPr lang="en-US"/>
              <a:t>Contents</a:t>
            </a:r>
            <a:endParaRPr/>
          </a:p>
        </p:txBody>
      </p:sp>
      <p:graphicFrame>
        <p:nvGraphicFramePr>
          <p:cNvPr id="74" name="Google Shape;74;g33b135bed8a_2_0"/>
          <p:cNvGraphicFramePr/>
          <p:nvPr/>
        </p:nvGraphicFramePr>
        <p:xfrm>
          <a:off x="871155" y="254030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{90FEB36F-434B-43E3-A6BA-41DDFBB3F984}</a:tableStyleId>
              </a:tblPr>
              <a:tblGrid>
                <a:gridCol w="967250"/>
                <a:gridCol w="11173375"/>
                <a:gridCol w="697475"/>
              </a:tblGrid>
              <a:tr h="652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200" u="none" cap="none" strike="noStrike"/>
                        <a:t>1</a:t>
                      </a:r>
                      <a:endParaRPr sz="1700"/>
                    </a:p>
                  </a:txBody>
                  <a:tcPr marT="54875" marB="54875" marR="138150" marL="1381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200"/>
                        <a:t>INTRODUCTION</a:t>
                      </a:r>
                      <a:endParaRPr sz="1700"/>
                    </a:p>
                  </a:txBody>
                  <a:tcPr marT="54875" marB="54875" marR="138150" marL="1381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200"/>
                    </a:p>
                  </a:txBody>
                  <a:tcPr marT="54875" marB="54875" marR="138150" marL="138150"/>
                </a:tc>
              </a:tr>
              <a:tr h="652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200"/>
                        <a:t>2</a:t>
                      </a:r>
                      <a:endParaRPr sz="1700"/>
                    </a:p>
                  </a:txBody>
                  <a:tcPr marT="54875" marB="54875" marR="138150" marL="1381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200"/>
                        <a:t>Project </a:t>
                      </a:r>
                      <a:r>
                        <a:rPr lang="en-US" sz="2200"/>
                        <a:t>Architecture</a:t>
                      </a:r>
                      <a:endParaRPr sz="1700"/>
                    </a:p>
                  </a:txBody>
                  <a:tcPr marT="54875" marB="54875" marR="138150" marL="1381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200"/>
                    </a:p>
                  </a:txBody>
                  <a:tcPr marT="54875" marB="54875" marR="138150" marL="138150"/>
                </a:tc>
              </a:tr>
              <a:tr h="703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200"/>
                        <a:t>3</a:t>
                      </a:r>
                      <a:endParaRPr sz="1700"/>
                    </a:p>
                  </a:txBody>
                  <a:tcPr marT="54875" marB="54875" marR="138150" marL="1381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200"/>
                        <a:t>Etl Process Flow</a:t>
                      </a:r>
                      <a:endParaRPr sz="1700"/>
                    </a:p>
                  </a:txBody>
                  <a:tcPr marT="54875" marB="54875" marR="138150" marL="1381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200"/>
                    </a:p>
                  </a:txBody>
                  <a:tcPr marT="54875" marB="54875" marR="138150" marL="138150"/>
                </a:tc>
              </a:tr>
              <a:tr h="652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200"/>
                        <a:t>4</a:t>
                      </a:r>
                      <a:endParaRPr sz="1700"/>
                    </a:p>
                  </a:txBody>
                  <a:tcPr marT="54875" marB="54875" marR="138150" marL="1381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200"/>
                        <a:t>Schema-Star Schema Design</a:t>
                      </a:r>
                      <a:endParaRPr sz="1700"/>
                    </a:p>
                  </a:txBody>
                  <a:tcPr marT="54875" marB="54875" marR="138150" marL="1381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200"/>
                    </a:p>
                  </a:txBody>
                  <a:tcPr marT="54875" marB="54875" marR="138150" marL="138150"/>
                </a:tc>
              </a:tr>
              <a:tr h="652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200"/>
                        <a:t>5</a:t>
                      </a:r>
                      <a:endParaRPr sz="1700"/>
                    </a:p>
                  </a:txBody>
                  <a:tcPr marT="54875" marB="54875" marR="138150" marL="1381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200"/>
                        <a:t>Data </a:t>
                      </a:r>
                      <a:r>
                        <a:rPr lang="en-US" sz="2200"/>
                        <a:t>Analysis Capabilities</a:t>
                      </a:r>
                      <a:endParaRPr sz="1700"/>
                    </a:p>
                  </a:txBody>
                  <a:tcPr marT="54875" marB="54875" marR="138150" marL="1381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200"/>
                    </a:p>
                  </a:txBody>
                  <a:tcPr marT="54875" marB="54875" marR="138150" marL="138150"/>
                </a:tc>
              </a:tr>
              <a:tr h="652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200"/>
                        <a:t>6</a:t>
                      </a:r>
                      <a:endParaRPr sz="1700"/>
                    </a:p>
                  </a:txBody>
                  <a:tcPr marT="54875" marB="54875" marR="138150" marL="1381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200"/>
                        <a:t>Implementation </a:t>
                      </a:r>
                      <a:r>
                        <a:rPr lang="en-US" sz="2200"/>
                        <a:t>Challenges</a:t>
                      </a:r>
                      <a:endParaRPr sz="1700"/>
                    </a:p>
                  </a:txBody>
                  <a:tcPr marT="54875" marB="54875" marR="138150" marL="1381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200"/>
                    </a:p>
                  </a:txBody>
                  <a:tcPr marT="54875" marB="54875" marR="138150" marL="138150"/>
                </a:tc>
              </a:tr>
              <a:tr h="652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200"/>
                        <a:t>7</a:t>
                      </a:r>
                      <a:endParaRPr sz="1700"/>
                    </a:p>
                  </a:txBody>
                  <a:tcPr marT="54875" marB="54875" marR="138150" marL="1381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200"/>
                        <a:t>Conclusion &amp; Findings -&gt; Next Steps</a:t>
                      </a:r>
                      <a:endParaRPr sz="1700"/>
                    </a:p>
                  </a:txBody>
                  <a:tcPr marT="54875" marB="54875" marR="138150" marL="1381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200"/>
                    </a:p>
                  </a:txBody>
                  <a:tcPr marT="54875" marB="54875" marR="138150" marL="138150"/>
                </a:tc>
              </a:tr>
            </a:tbl>
          </a:graphicData>
        </a:graphic>
      </p:graphicFrame>
      <p:sp>
        <p:nvSpPr>
          <p:cNvPr id="75" name="Google Shape;75;g33b135bed8a_2_0"/>
          <p:cNvSpPr txBox="1"/>
          <p:nvPr>
            <p:ph idx="12" type="sldNum"/>
          </p:nvPr>
        </p:nvSpPr>
        <p:spPr>
          <a:xfrm>
            <a:off x="21717366" y="9032810"/>
            <a:ext cx="1228800" cy="52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025" lIns="134100" spcFirstLastPara="1" rIns="134100" wrap="square" tIns="670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6" name="Google Shape;76;g33b135bed8a_2_0"/>
          <p:cNvSpPr txBox="1"/>
          <p:nvPr/>
        </p:nvSpPr>
        <p:spPr>
          <a:xfrm>
            <a:off x="1125416" y="7403496"/>
            <a:ext cx="5064600" cy="535500"/>
          </a:xfrm>
          <a:prstGeom prst="rect">
            <a:avLst/>
          </a:prstGeom>
          <a:noFill/>
          <a:ln>
            <a:noFill/>
          </a:ln>
        </p:spPr>
        <p:txBody>
          <a:bodyPr anchorCtr="0" anchor="t" bIns="67025" lIns="134100" spcFirstLastPara="1" rIns="134100" wrap="square" tIns="670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u="sng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  <a:hlinkClick action="ppaction://hlinksldjump"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Next</a:t>
            </a:r>
            <a:endParaRPr sz="2600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77" name="Google Shape;77;g33b135bed8a_2_0"/>
          <p:cNvSpPr txBox="1"/>
          <p:nvPr/>
        </p:nvSpPr>
        <p:spPr>
          <a:xfrm>
            <a:off x="976600" y="1078725"/>
            <a:ext cx="59886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CONTENTS</a:t>
            </a:r>
            <a:endParaRPr sz="44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"/>
          <p:cNvSpPr/>
          <p:nvPr/>
        </p:nvSpPr>
        <p:spPr>
          <a:xfrm>
            <a:off x="863798" y="2858214"/>
            <a:ext cx="12902803" cy="14025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Montserrat"/>
              <a:buNone/>
            </a:pPr>
            <a:r>
              <a:rPr b="1" lang="en-US" sz="44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INTRODUCTION</a:t>
            </a:r>
            <a:endParaRPr b="0" i="0" sz="4400" u="none" cap="none" strike="noStrike"/>
          </a:p>
        </p:txBody>
      </p:sp>
      <p:sp>
        <p:nvSpPr>
          <p:cNvPr id="84" name="Google Shape;84;p1"/>
          <p:cNvSpPr/>
          <p:nvPr/>
        </p:nvSpPr>
        <p:spPr>
          <a:xfrm>
            <a:off x="863798" y="4630936"/>
            <a:ext cx="12902803" cy="740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A comprehensive data engineering solution for e-commerce data. This project automates data processing from multiple sources. It is streamlined for business intelligence and analytics. Built with Python, Streamlit, and Google BigQuery.</a:t>
            </a:r>
            <a:endParaRPr b="0" i="0" sz="1900" u="none" cap="none" strike="noStrike">
              <a:solidFill>
                <a:srgbClr val="E2E6E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Additional functionality to send reports after Analysis.</a:t>
            </a:r>
            <a:endParaRPr b="0" i="0" sz="1900" u="none" cap="none" strike="noStrike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/>
          <p:nvPr/>
        </p:nvSpPr>
        <p:spPr>
          <a:xfrm>
            <a:off x="863798" y="1518572"/>
            <a:ext cx="5854200" cy="7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Montserrat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Project Architecture</a:t>
            </a:r>
            <a:endParaRPr b="0" i="0" sz="4400" u="none" cap="none" strike="noStrike"/>
          </a:p>
        </p:txBody>
      </p:sp>
      <p:pic>
        <p:nvPicPr>
          <p:cNvPr descr="preencoded.png" id="91" name="Google Shape;91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63798" y="3599140"/>
            <a:ext cx="616982" cy="616982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2"/>
          <p:cNvSpPr/>
          <p:nvPr/>
        </p:nvSpPr>
        <p:spPr>
          <a:xfrm>
            <a:off x="863798" y="4462939"/>
            <a:ext cx="2804874" cy="350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Data Sources</a:t>
            </a:r>
            <a:endParaRPr b="0" i="0" sz="2200" u="none" cap="none" strike="noStrike"/>
          </a:p>
        </p:txBody>
      </p:sp>
      <p:sp>
        <p:nvSpPr>
          <p:cNvPr id="93" name="Google Shape;93;p2"/>
          <p:cNvSpPr/>
          <p:nvPr/>
        </p:nvSpPr>
        <p:spPr>
          <a:xfrm>
            <a:off x="863798" y="4961573"/>
            <a:ext cx="2947987" cy="740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Kaggle datasets, MySQL databases, CSV files.</a:t>
            </a:r>
            <a:endParaRPr b="0" i="0" sz="1900" u="none" cap="none" strike="noStrike"/>
          </a:p>
        </p:txBody>
      </p:sp>
      <p:pic>
        <p:nvPicPr>
          <p:cNvPr descr="preencoded.png" id="94" name="Google Shape;94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81951" y="3599140"/>
            <a:ext cx="616982" cy="616982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"/>
          <p:cNvSpPr/>
          <p:nvPr/>
        </p:nvSpPr>
        <p:spPr>
          <a:xfrm>
            <a:off x="4181951" y="4462939"/>
            <a:ext cx="2804874" cy="350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Processing Layer</a:t>
            </a:r>
            <a:endParaRPr b="0" i="0" sz="2200" u="none" cap="none" strike="noStrike"/>
          </a:p>
        </p:txBody>
      </p:sp>
      <p:sp>
        <p:nvSpPr>
          <p:cNvPr id="96" name="Google Shape;96;p2"/>
          <p:cNvSpPr/>
          <p:nvPr/>
        </p:nvSpPr>
        <p:spPr>
          <a:xfrm>
            <a:off x="4181951" y="4961573"/>
            <a:ext cx="2948107" cy="370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Python-based ETL pipeline.</a:t>
            </a:r>
            <a:endParaRPr b="0" i="0" sz="1900" u="none" cap="none" strike="noStrike"/>
          </a:p>
        </p:txBody>
      </p:sp>
      <p:pic>
        <p:nvPicPr>
          <p:cNvPr descr="preencoded.png" id="97" name="Google Shape;97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00223" y="3599140"/>
            <a:ext cx="616982" cy="616982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2"/>
          <p:cNvSpPr/>
          <p:nvPr/>
        </p:nvSpPr>
        <p:spPr>
          <a:xfrm>
            <a:off x="7500223" y="4462939"/>
            <a:ext cx="2804874" cy="350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Storage Layer</a:t>
            </a:r>
            <a:endParaRPr b="0" i="0" sz="2200" u="none" cap="none" strike="noStrike"/>
          </a:p>
        </p:txBody>
      </p:sp>
      <p:sp>
        <p:nvSpPr>
          <p:cNvPr id="99" name="Google Shape;99;p2"/>
          <p:cNvSpPr/>
          <p:nvPr/>
        </p:nvSpPr>
        <p:spPr>
          <a:xfrm>
            <a:off x="7500223" y="4961573"/>
            <a:ext cx="2948107" cy="740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Google BigQuery data warehouse.</a:t>
            </a:r>
            <a:endParaRPr b="0" i="0" sz="1900" u="none" cap="none" strike="noStrike"/>
          </a:p>
        </p:txBody>
      </p:sp>
      <p:pic>
        <p:nvPicPr>
          <p:cNvPr descr="preencoded.png" id="100" name="Google Shape;100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818495" y="3599140"/>
            <a:ext cx="616982" cy="616982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2"/>
          <p:cNvSpPr/>
          <p:nvPr/>
        </p:nvSpPr>
        <p:spPr>
          <a:xfrm>
            <a:off x="10818495" y="4462939"/>
            <a:ext cx="2804874" cy="350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Presentation Layer</a:t>
            </a:r>
            <a:endParaRPr b="0" i="0" sz="2200" u="none" cap="none" strike="noStrike"/>
          </a:p>
        </p:txBody>
      </p:sp>
      <p:sp>
        <p:nvSpPr>
          <p:cNvPr id="102" name="Google Shape;102;p2"/>
          <p:cNvSpPr/>
          <p:nvPr/>
        </p:nvSpPr>
        <p:spPr>
          <a:xfrm>
            <a:off x="10818495" y="4961573"/>
            <a:ext cx="2948107" cy="740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Streamlit dashboard for ETL monitoring.</a:t>
            </a:r>
            <a:endParaRPr b="0" i="0" sz="1900" u="none" cap="none" strike="noStrike">
              <a:solidFill>
                <a:srgbClr val="E2E6E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None/>
            </a:pPr>
            <a:r>
              <a:rPr lang="en-US" sz="1900">
                <a:solidFill>
                  <a:srgbClr val="E2E6E9"/>
                </a:solidFill>
              </a:rPr>
              <a:t>Report Transfer via Email</a:t>
            </a:r>
            <a:endParaRPr sz="1900">
              <a:solidFill>
                <a:srgbClr val="E2E6E9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"/>
          <p:cNvSpPr/>
          <p:nvPr/>
        </p:nvSpPr>
        <p:spPr>
          <a:xfrm>
            <a:off x="851297" y="668774"/>
            <a:ext cx="5527834" cy="690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13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350"/>
              <a:buFont typeface="Montserrat"/>
              <a:buNone/>
            </a:pPr>
            <a:r>
              <a:rPr b="1" i="0" lang="en-US" sz="43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ETL Process Flow</a:t>
            </a:r>
            <a:endParaRPr b="0" i="0" sz="4350" u="none" cap="none" strike="noStrike"/>
          </a:p>
        </p:txBody>
      </p:sp>
      <p:pic>
        <p:nvPicPr>
          <p:cNvPr descr="preencoded.png" id="109" name="Google Shape;10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1297" y="1724501"/>
            <a:ext cx="1216104" cy="145934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3"/>
          <p:cNvSpPr/>
          <p:nvPr/>
        </p:nvSpPr>
        <p:spPr>
          <a:xfrm>
            <a:off x="2432209" y="1967627"/>
            <a:ext cx="2763917" cy="3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58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150"/>
              <a:buFont typeface="Montserrat"/>
              <a:buNone/>
            </a:pPr>
            <a:r>
              <a:rPr b="1" i="0" lang="en-US" sz="215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Extract</a:t>
            </a:r>
            <a:endParaRPr b="0" i="0" sz="2150" u="none" cap="none" strike="noStrike"/>
          </a:p>
        </p:txBody>
      </p:sp>
      <p:sp>
        <p:nvSpPr>
          <p:cNvPr id="111" name="Google Shape;111;p3"/>
          <p:cNvSpPr/>
          <p:nvPr/>
        </p:nvSpPr>
        <p:spPr>
          <a:xfrm>
            <a:off x="2432209" y="2458879"/>
            <a:ext cx="11346894" cy="364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Retrieve data from Kaggle, MySQL, and CSV files.</a:t>
            </a:r>
            <a:endParaRPr b="0" i="0" sz="1900" u="none" cap="none" strike="noStrike"/>
          </a:p>
        </p:txBody>
      </p:sp>
      <p:pic>
        <p:nvPicPr>
          <p:cNvPr descr="preencoded.png" id="112" name="Google Shape;112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1297" y="3183850"/>
            <a:ext cx="1216104" cy="1459349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3"/>
          <p:cNvSpPr/>
          <p:nvPr/>
        </p:nvSpPr>
        <p:spPr>
          <a:xfrm>
            <a:off x="2432209" y="3426976"/>
            <a:ext cx="2763917" cy="3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58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150"/>
              <a:buFont typeface="Montserrat"/>
              <a:buNone/>
            </a:pPr>
            <a:r>
              <a:rPr b="1" i="0" lang="en-US" sz="215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Transform</a:t>
            </a:r>
            <a:endParaRPr b="0" i="0" sz="2150" u="none" cap="none" strike="noStrike"/>
          </a:p>
        </p:txBody>
      </p:sp>
      <p:sp>
        <p:nvSpPr>
          <p:cNvPr id="114" name="Google Shape;114;p3"/>
          <p:cNvSpPr/>
          <p:nvPr/>
        </p:nvSpPr>
        <p:spPr>
          <a:xfrm>
            <a:off x="2432209" y="3918228"/>
            <a:ext cx="11346894" cy="364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Clean, merge, and restructure data.</a:t>
            </a:r>
            <a:endParaRPr b="0" i="0" sz="1900" u="none" cap="none" strike="noStrike"/>
          </a:p>
        </p:txBody>
      </p:sp>
      <p:pic>
        <p:nvPicPr>
          <p:cNvPr descr="preencoded.png" id="115" name="Google Shape;115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1297" y="4643199"/>
            <a:ext cx="1216104" cy="1459349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3"/>
          <p:cNvSpPr/>
          <p:nvPr/>
        </p:nvSpPr>
        <p:spPr>
          <a:xfrm>
            <a:off x="2432209" y="4886325"/>
            <a:ext cx="2763917" cy="3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58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150"/>
              <a:buFont typeface="Montserrat"/>
              <a:buNone/>
            </a:pPr>
            <a:r>
              <a:rPr b="1" i="0" lang="en-US" sz="215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Load</a:t>
            </a:r>
            <a:endParaRPr b="0" i="0" sz="2150" u="none" cap="none" strike="noStrike"/>
          </a:p>
        </p:txBody>
      </p:sp>
      <p:sp>
        <p:nvSpPr>
          <p:cNvPr id="117" name="Google Shape;117;p3"/>
          <p:cNvSpPr/>
          <p:nvPr/>
        </p:nvSpPr>
        <p:spPr>
          <a:xfrm>
            <a:off x="2432209" y="5377577"/>
            <a:ext cx="11346894" cy="364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Upload to BigQuery in star schema format.</a:t>
            </a:r>
            <a:endParaRPr b="0" i="0" sz="1900" u="none" cap="none" strike="noStrike"/>
          </a:p>
        </p:txBody>
      </p:sp>
      <p:pic>
        <p:nvPicPr>
          <p:cNvPr descr="preencoded.png" id="118" name="Google Shape;118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51297" y="6102548"/>
            <a:ext cx="1216104" cy="1459349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"/>
          <p:cNvSpPr/>
          <p:nvPr/>
        </p:nvSpPr>
        <p:spPr>
          <a:xfrm>
            <a:off x="2432209" y="6345674"/>
            <a:ext cx="2763917" cy="3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58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150"/>
              <a:buFont typeface="Montserrat"/>
              <a:buNone/>
            </a:pPr>
            <a:r>
              <a:rPr b="1" i="0" lang="en-US" sz="215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Analyze</a:t>
            </a:r>
            <a:endParaRPr b="0" i="0" sz="2150" u="none" cap="none" strike="noStrike"/>
          </a:p>
        </p:txBody>
      </p:sp>
      <p:sp>
        <p:nvSpPr>
          <p:cNvPr id="120" name="Google Shape;120;p3"/>
          <p:cNvSpPr/>
          <p:nvPr/>
        </p:nvSpPr>
        <p:spPr>
          <a:xfrm>
            <a:off x="2432209" y="6836926"/>
            <a:ext cx="11346894" cy="364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Create data marts, aggregation tables, and KPIs.</a:t>
            </a:r>
            <a:endParaRPr b="0" i="0" sz="1900" u="none" cap="none" strike="noStrike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4"/>
          <p:cNvSpPr/>
          <p:nvPr/>
        </p:nvSpPr>
        <p:spPr>
          <a:xfrm>
            <a:off x="794198" y="1093578"/>
            <a:ext cx="5825700" cy="7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Montserrat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Star Schema Design</a:t>
            </a:r>
            <a:endParaRPr b="0" i="0" sz="4400" u="none" cap="none" strike="noStrike"/>
          </a:p>
        </p:txBody>
      </p:sp>
      <p:sp>
        <p:nvSpPr>
          <p:cNvPr id="127" name="Google Shape;127;p4"/>
          <p:cNvSpPr/>
          <p:nvPr/>
        </p:nvSpPr>
        <p:spPr>
          <a:xfrm>
            <a:off x="863798" y="3333988"/>
            <a:ext cx="2804874" cy="350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Fact Table</a:t>
            </a:r>
            <a:endParaRPr b="0" i="0" sz="2200" u="none" cap="none" strike="noStrike"/>
          </a:p>
        </p:txBody>
      </p:sp>
      <p:sp>
        <p:nvSpPr>
          <p:cNvPr id="128" name="Google Shape;128;p4"/>
          <p:cNvSpPr/>
          <p:nvPr/>
        </p:nvSpPr>
        <p:spPr>
          <a:xfrm>
            <a:off x="863798" y="3931444"/>
            <a:ext cx="6150293" cy="370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fact_orders (central transaction data)</a:t>
            </a:r>
            <a:endParaRPr b="0" i="0" sz="1900" u="none" cap="none" strike="noStrike"/>
          </a:p>
        </p:txBody>
      </p:sp>
      <p:sp>
        <p:nvSpPr>
          <p:cNvPr id="129" name="Google Shape;129;p4"/>
          <p:cNvSpPr/>
          <p:nvPr/>
        </p:nvSpPr>
        <p:spPr>
          <a:xfrm>
            <a:off x="7623929" y="3333988"/>
            <a:ext cx="2804874" cy="350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Dimension Tables</a:t>
            </a:r>
            <a:endParaRPr b="0" i="0" sz="2200" u="none" cap="none" strike="noStrike"/>
          </a:p>
        </p:txBody>
      </p:sp>
      <p:sp>
        <p:nvSpPr>
          <p:cNvPr id="130" name="Google Shape;130;p4"/>
          <p:cNvSpPr/>
          <p:nvPr/>
        </p:nvSpPr>
        <p:spPr>
          <a:xfrm>
            <a:off x="7623929" y="3931444"/>
            <a:ext cx="6150293" cy="370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dim_customers</a:t>
            </a:r>
            <a:endParaRPr b="0" i="0" sz="1900" u="none" cap="none" strike="noStrike"/>
          </a:p>
        </p:txBody>
      </p:sp>
      <p:sp>
        <p:nvSpPr>
          <p:cNvPr id="131" name="Google Shape;131;p4"/>
          <p:cNvSpPr/>
          <p:nvPr/>
        </p:nvSpPr>
        <p:spPr>
          <a:xfrm>
            <a:off x="7623929" y="4387929"/>
            <a:ext cx="6150293" cy="370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dim_products</a:t>
            </a:r>
            <a:endParaRPr b="0" i="0" sz="1900" u="none" cap="none" strike="noStrike"/>
          </a:p>
        </p:txBody>
      </p:sp>
      <p:sp>
        <p:nvSpPr>
          <p:cNvPr id="132" name="Google Shape;132;p4"/>
          <p:cNvSpPr/>
          <p:nvPr/>
        </p:nvSpPr>
        <p:spPr>
          <a:xfrm>
            <a:off x="7623929" y="4844415"/>
            <a:ext cx="6150293" cy="370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dim_sellers</a:t>
            </a:r>
            <a:endParaRPr b="0" i="0" sz="1900" u="none" cap="none" strike="noStrike"/>
          </a:p>
        </p:txBody>
      </p:sp>
      <p:sp>
        <p:nvSpPr>
          <p:cNvPr id="133" name="Google Shape;133;p4"/>
          <p:cNvSpPr/>
          <p:nvPr/>
        </p:nvSpPr>
        <p:spPr>
          <a:xfrm>
            <a:off x="7623929" y="5300901"/>
            <a:ext cx="6150293" cy="370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dim_payment_types</a:t>
            </a:r>
            <a:endParaRPr b="0" i="0" sz="1900" u="none" cap="none" strike="noStrike"/>
          </a:p>
        </p:txBody>
      </p:sp>
      <p:sp>
        <p:nvSpPr>
          <p:cNvPr id="134" name="Google Shape;134;p4"/>
          <p:cNvSpPr/>
          <p:nvPr/>
        </p:nvSpPr>
        <p:spPr>
          <a:xfrm>
            <a:off x="7623929" y="5757386"/>
            <a:ext cx="6150293" cy="370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dim_reviews</a:t>
            </a:r>
            <a:endParaRPr b="0" i="0" sz="1900" u="none" cap="none" strike="noStrike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3b135bed8a_1_0"/>
          <p:cNvSpPr txBox="1"/>
          <p:nvPr>
            <p:ph type="title"/>
          </p:nvPr>
        </p:nvSpPr>
        <p:spPr>
          <a:xfrm>
            <a:off x="1097280" y="581558"/>
            <a:ext cx="12435900" cy="50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025" lIns="134100" spcFirstLastPara="1" rIns="134100" wrap="square" tIns="6702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</a:pPr>
            <a:r>
              <a:rPr lang="en-US"/>
              <a:t>Star Schema</a:t>
            </a:r>
            <a:endParaRPr/>
          </a:p>
        </p:txBody>
      </p:sp>
      <p:pic>
        <p:nvPicPr>
          <p:cNvPr id="140" name="Google Shape;140;g33b135bed8a_1_0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5516" l="2010" r="1789" t="5356"/>
          <a:stretch/>
        </p:blipFill>
        <p:spPr>
          <a:xfrm>
            <a:off x="219454" y="1202436"/>
            <a:ext cx="14122200" cy="601230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g33b135bed8a_1_0"/>
          <p:cNvSpPr txBox="1"/>
          <p:nvPr>
            <p:ph idx="12" type="sldNum"/>
          </p:nvPr>
        </p:nvSpPr>
        <p:spPr>
          <a:xfrm>
            <a:off x="13573354" y="7527342"/>
            <a:ext cx="768000" cy="4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7025" lIns="134100" spcFirstLastPara="1" rIns="134100" wrap="square" tIns="670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2" name="Google Shape;142;g33b135bed8a_1_0"/>
          <p:cNvSpPr txBox="1"/>
          <p:nvPr/>
        </p:nvSpPr>
        <p:spPr>
          <a:xfrm>
            <a:off x="1125416" y="7403496"/>
            <a:ext cx="5064600" cy="535500"/>
          </a:xfrm>
          <a:prstGeom prst="rect">
            <a:avLst/>
          </a:prstGeom>
          <a:noFill/>
          <a:ln>
            <a:noFill/>
          </a:ln>
        </p:spPr>
        <p:txBody>
          <a:bodyPr anchorCtr="0" anchor="t" bIns="67025" lIns="134100" spcFirstLastPara="1" rIns="134100" wrap="square" tIns="6702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u="sng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  <a:hlinkClick action="ppaction://hlinksldjump"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Contents</a:t>
            </a:r>
            <a:r>
              <a:rPr lang="en-US" sz="260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 | </a:t>
            </a:r>
            <a:r>
              <a:rPr lang="en-US" sz="2600" u="sng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  <a:hlinkClick action="ppaction://hlinksldjump"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Previous</a:t>
            </a:r>
            <a:r>
              <a:rPr lang="en-US" sz="260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 | </a:t>
            </a:r>
            <a:r>
              <a:rPr lang="en-US" sz="2600" u="sng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  <a:hlinkClick action="ppaction://hlinksldjump"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Next</a:t>
            </a:r>
            <a:endParaRPr sz="2600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5"/>
          <p:cNvSpPr/>
          <p:nvPr/>
        </p:nvSpPr>
        <p:spPr>
          <a:xfrm>
            <a:off x="794198" y="1118397"/>
            <a:ext cx="7424700" cy="7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Montserrat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Data Analysis Capabilities</a:t>
            </a:r>
            <a:endParaRPr b="0" i="0" sz="4400" u="none" cap="none" strike="noStrike"/>
          </a:p>
        </p:txBody>
      </p:sp>
      <p:sp>
        <p:nvSpPr>
          <p:cNvPr id="149" name="Google Shape;149;p5"/>
          <p:cNvSpPr/>
          <p:nvPr/>
        </p:nvSpPr>
        <p:spPr>
          <a:xfrm>
            <a:off x="863798" y="3599140"/>
            <a:ext cx="4136400" cy="2102700"/>
          </a:xfrm>
          <a:prstGeom prst="roundRect">
            <a:avLst>
              <a:gd fmla="val 1761" name="adj"/>
            </a:avLst>
          </a:prstGeom>
          <a:solidFill>
            <a:srgbClr val="3031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5"/>
          <p:cNvSpPr/>
          <p:nvPr/>
        </p:nvSpPr>
        <p:spPr>
          <a:xfrm>
            <a:off x="1110615" y="3845957"/>
            <a:ext cx="2804874" cy="350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Data Marts</a:t>
            </a:r>
            <a:endParaRPr b="0" i="0" sz="2200" u="none" cap="none" strike="noStrike"/>
          </a:p>
        </p:txBody>
      </p:sp>
      <p:sp>
        <p:nvSpPr>
          <p:cNvPr id="151" name="Google Shape;151;p5"/>
          <p:cNvSpPr/>
          <p:nvPr/>
        </p:nvSpPr>
        <p:spPr>
          <a:xfrm>
            <a:off x="1110615" y="4344591"/>
            <a:ext cx="3642717" cy="11104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Customer-centric view, product performance analysis, seller performance metrics.</a:t>
            </a:r>
            <a:endParaRPr b="0" i="0" sz="1900" u="none" cap="none" strike="noStrike"/>
          </a:p>
        </p:txBody>
      </p:sp>
      <p:sp>
        <p:nvSpPr>
          <p:cNvPr id="152" name="Google Shape;152;p5"/>
          <p:cNvSpPr/>
          <p:nvPr/>
        </p:nvSpPr>
        <p:spPr>
          <a:xfrm>
            <a:off x="5246965" y="3599153"/>
            <a:ext cx="4136400" cy="2102700"/>
          </a:xfrm>
          <a:prstGeom prst="roundRect">
            <a:avLst>
              <a:gd fmla="val 1761" name="adj"/>
            </a:avLst>
          </a:prstGeom>
          <a:solidFill>
            <a:srgbClr val="3031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5"/>
          <p:cNvSpPr/>
          <p:nvPr/>
        </p:nvSpPr>
        <p:spPr>
          <a:xfrm>
            <a:off x="5493782" y="3845957"/>
            <a:ext cx="2825591" cy="350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Aggregation Tables</a:t>
            </a:r>
            <a:endParaRPr b="0" i="0" sz="2200" u="none" cap="none" strike="noStrike"/>
          </a:p>
        </p:txBody>
      </p:sp>
      <p:sp>
        <p:nvSpPr>
          <p:cNvPr id="154" name="Google Shape;154;p5"/>
          <p:cNvSpPr/>
          <p:nvPr/>
        </p:nvSpPr>
        <p:spPr>
          <a:xfrm>
            <a:off x="5493807" y="4714741"/>
            <a:ext cx="3642600" cy="74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Time-based, geographic, and product category performance.</a:t>
            </a:r>
            <a:endParaRPr b="0" i="0" sz="1900" u="none" cap="none" strike="noStrike"/>
          </a:p>
        </p:txBody>
      </p:sp>
      <p:sp>
        <p:nvSpPr>
          <p:cNvPr id="155" name="Google Shape;155;p5"/>
          <p:cNvSpPr/>
          <p:nvPr/>
        </p:nvSpPr>
        <p:spPr>
          <a:xfrm>
            <a:off x="9630132" y="3599140"/>
            <a:ext cx="4136350" cy="2102763"/>
          </a:xfrm>
          <a:prstGeom prst="roundRect">
            <a:avLst>
              <a:gd fmla="val 1761" name="adj"/>
            </a:avLst>
          </a:prstGeom>
          <a:solidFill>
            <a:srgbClr val="3031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5"/>
          <p:cNvSpPr/>
          <p:nvPr/>
        </p:nvSpPr>
        <p:spPr>
          <a:xfrm>
            <a:off x="9876949" y="3845957"/>
            <a:ext cx="2804874" cy="350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KPI Monitoring</a:t>
            </a:r>
            <a:endParaRPr b="0" i="0" sz="2200" u="none" cap="none" strike="noStrike"/>
          </a:p>
        </p:txBody>
      </p:sp>
      <p:sp>
        <p:nvSpPr>
          <p:cNvPr id="157" name="Google Shape;157;p5"/>
          <p:cNvSpPr/>
          <p:nvPr/>
        </p:nvSpPr>
        <p:spPr>
          <a:xfrm>
            <a:off x="9876949" y="4344591"/>
            <a:ext cx="3642717" cy="740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Sales, customer satisfaction, order fulfillment, payment distribution.</a:t>
            </a:r>
            <a:endParaRPr b="0" i="0" sz="1900" u="none" cap="none" strike="noStrike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6"/>
          <p:cNvSpPr/>
          <p:nvPr/>
        </p:nvSpPr>
        <p:spPr>
          <a:xfrm>
            <a:off x="863798" y="819314"/>
            <a:ext cx="8046300" cy="7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Montserrat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Implementation Challenges</a:t>
            </a:r>
            <a:endParaRPr b="0" i="0" sz="4400" u="none" cap="none" strike="noStrike"/>
          </a:p>
        </p:txBody>
      </p:sp>
      <p:sp>
        <p:nvSpPr>
          <p:cNvPr id="164" name="Google Shape;164;p6"/>
          <p:cNvSpPr/>
          <p:nvPr/>
        </p:nvSpPr>
        <p:spPr>
          <a:xfrm>
            <a:off x="863798" y="3235487"/>
            <a:ext cx="28050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Data Quality Issues</a:t>
            </a:r>
            <a:endParaRPr b="0" i="0" sz="2200" u="none" cap="none" strike="noStrike"/>
          </a:p>
        </p:txBody>
      </p:sp>
      <p:sp>
        <p:nvSpPr>
          <p:cNvPr id="165" name="Google Shape;165;p6"/>
          <p:cNvSpPr/>
          <p:nvPr/>
        </p:nvSpPr>
        <p:spPr>
          <a:xfrm>
            <a:off x="863798" y="4387929"/>
            <a:ext cx="6150293" cy="370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Handling missing values</a:t>
            </a:r>
            <a:endParaRPr b="0" i="0" sz="1900" u="none" cap="none" strike="noStrike"/>
          </a:p>
        </p:txBody>
      </p:sp>
      <p:sp>
        <p:nvSpPr>
          <p:cNvPr id="166" name="Google Shape;166;p6"/>
          <p:cNvSpPr/>
          <p:nvPr/>
        </p:nvSpPr>
        <p:spPr>
          <a:xfrm>
            <a:off x="863798" y="4844415"/>
            <a:ext cx="6150293" cy="370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Data type inconsistencies</a:t>
            </a:r>
            <a:endParaRPr b="0" i="0" sz="1900" u="none" cap="none" strike="noStrike"/>
          </a:p>
        </p:txBody>
      </p:sp>
      <p:sp>
        <p:nvSpPr>
          <p:cNvPr id="167" name="Google Shape;167;p6"/>
          <p:cNvSpPr/>
          <p:nvPr/>
        </p:nvSpPr>
        <p:spPr>
          <a:xfrm>
            <a:off x="863798" y="5300901"/>
            <a:ext cx="6150293" cy="370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Entity resolution</a:t>
            </a:r>
            <a:endParaRPr b="0" i="0" sz="1900" u="none" cap="none" strike="noStrike"/>
          </a:p>
        </p:txBody>
      </p:sp>
      <p:sp>
        <p:nvSpPr>
          <p:cNvPr id="168" name="Google Shape;168;p6"/>
          <p:cNvSpPr/>
          <p:nvPr/>
        </p:nvSpPr>
        <p:spPr>
          <a:xfrm>
            <a:off x="7623929" y="3235462"/>
            <a:ext cx="30501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Technical Challenges</a:t>
            </a:r>
            <a:endParaRPr b="0" i="0" sz="2200" u="none" cap="none" strike="noStrike"/>
          </a:p>
        </p:txBody>
      </p:sp>
      <p:sp>
        <p:nvSpPr>
          <p:cNvPr id="169" name="Google Shape;169;p6"/>
          <p:cNvSpPr/>
          <p:nvPr/>
        </p:nvSpPr>
        <p:spPr>
          <a:xfrm>
            <a:off x="7623929" y="4387929"/>
            <a:ext cx="6150293" cy="370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Integrating data sources</a:t>
            </a:r>
            <a:endParaRPr b="0" i="0" sz="1900" u="none" cap="none" strike="noStrike"/>
          </a:p>
        </p:txBody>
      </p:sp>
      <p:sp>
        <p:nvSpPr>
          <p:cNvPr id="170" name="Google Shape;170;p6"/>
          <p:cNvSpPr/>
          <p:nvPr/>
        </p:nvSpPr>
        <p:spPr>
          <a:xfrm>
            <a:off x="7623929" y="4844415"/>
            <a:ext cx="6150293" cy="370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Optimizing transformations</a:t>
            </a:r>
            <a:endParaRPr b="0" i="0" sz="1900" u="none" cap="none" strike="noStrike"/>
          </a:p>
        </p:txBody>
      </p:sp>
      <p:sp>
        <p:nvSpPr>
          <p:cNvPr id="171" name="Google Shape;171;p6"/>
          <p:cNvSpPr/>
          <p:nvPr/>
        </p:nvSpPr>
        <p:spPr>
          <a:xfrm>
            <a:off x="7623929" y="5300901"/>
            <a:ext cx="6150293" cy="370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Managing BigQuery limitations</a:t>
            </a:r>
            <a:endParaRPr b="0" i="0" sz="1900" u="none" cap="none" strike="noStrike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7"/>
          <p:cNvSpPr/>
          <p:nvPr/>
        </p:nvSpPr>
        <p:spPr>
          <a:xfrm>
            <a:off x="776798" y="1270950"/>
            <a:ext cx="6712500" cy="7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Montserrat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Conclusions &amp; Findings</a:t>
            </a:r>
            <a:endParaRPr b="0" i="0" sz="4400" u="none" cap="none" strike="noStrike"/>
          </a:p>
        </p:txBody>
      </p:sp>
      <p:sp>
        <p:nvSpPr>
          <p:cNvPr id="178" name="Google Shape;178;p7"/>
          <p:cNvSpPr/>
          <p:nvPr/>
        </p:nvSpPr>
        <p:spPr>
          <a:xfrm>
            <a:off x="863798" y="3994547"/>
            <a:ext cx="555308" cy="555308"/>
          </a:xfrm>
          <a:prstGeom prst="roundRect">
            <a:avLst>
              <a:gd fmla="val 6667" name="adj"/>
            </a:avLst>
          </a:prstGeom>
          <a:solidFill>
            <a:srgbClr val="3031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7"/>
          <p:cNvSpPr/>
          <p:nvPr/>
        </p:nvSpPr>
        <p:spPr>
          <a:xfrm>
            <a:off x="1665923" y="3994547"/>
            <a:ext cx="3334226" cy="7012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Technical Achievements</a:t>
            </a:r>
            <a:endParaRPr b="0" i="0" sz="2200" u="none" cap="none" strike="noStrike"/>
          </a:p>
        </p:txBody>
      </p:sp>
      <p:sp>
        <p:nvSpPr>
          <p:cNvPr id="180" name="Google Shape;180;p7"/>
          <p:cNvSpPr/>
          <p:nvPr/>
        </p:nvSpPr>
        <p:spPr>
          <a:xfrm>
            <a:off x="1665923" y="4843820"/>
            <a:ext cx="3334226" cy="740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Integrated data sources and created optimized star schema.</a:t>
            </a:r>
            <a:endParaRPr b="0" i="0" sz="1900" u="none" cap="none" strike="noStrike"/>
          </a:p>
        </p:txBody>
      </p:sp>
      <p:sp>
        <p:nvSpPr>
          <p:cNvPr id="181" name="Google Shape;181;p7"/>
          <p:cNvSpPr/>
          <p:nvPr/>
        </p:nvSpPr>
        <p:spPr>
          <a:xfrm>
            <a:off x="5246965" y="3994547"/>
            <a:ext cx="555308" cy="555308"/>
          </a:xfrm>
          <a:prstGeom prst="roundRect">
            <a:avLst>
              <a:gd fmla="val 6667" name="adj"/>
            </a:avLst>
          </a:prstGeom>
          <a:solidFill>
            <a:srgbClr val="3031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7"/>
          <p:cNvSpPr/>
          <p:nvPr/>
        </p:nvSpPr>
        <p:spPr>
          <a:xfrm>
            <a:off x="6049089" y="3994547"/>
            <a:ext cx="2804874" cy="350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Business Value</a:t>
            </a:r>
            <a:endParaRPr b="0" i="0" sz="2200" u="none" cap="none" strike="noStrike"/>
          </a:p>
        </p:txBody>
      </p:sp>
      <p:sp>
        <p:nvSpPr>
          <p:cNvPr id="183" name="Google Shape;183;p7"/>
          <p:cNvSpPr/>
          <p:nvPr/>
        </p:nvSpPr>
        <p:spPr>
          <a:xfrm>
            <a:off x="6049089" y="4493181"/>
            <a:ext cx="3334226" cy="740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Enabled e-commerce analytics and data-driven decisions.</a:t>
            </a:r>
            <a:endParaRPr b="0" i="0" sz="1900" u="none" cap="none" strike="noStrike"/>
          </a:p>
        </p:txBody>
      </p:sp>
      <p:sp>
        <p:nvSpPr>
          <p:cNvPr id="184" name="Google Shape;184;p7"/>
          <p:cNvSpPr/>
          <p:nvPr/>
        </p:nvSpPr>
        <p:spPr>
          <a:xfrm>
            <a:off x="9630132" y="3994547"/>
            <a:ext cx="555308" cy="555308"/>
          </a:xfrm>
          <a:prstGeom prst="roundRect">
            <a:avLst>
              <a:gd fmla="val 6667" name="adj"/>
            </a:avLst>
          </a:prstGeom>
          <a:solidFill>
            <a:srgbClr val="3031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7"/>
          <p:cNvSpPr/>
          <p:nvPr/>
        </p:nvSpPr>
        <p:spPr>
          <a:xfrm>
            <a:off x="10432256" y="3994547"/>
            <a:ext cx="3098125" cy="350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Scalable Architecture</a:t>
            </a:r>
            <a:endParaRPr b="0" i="0" sz="2200" u="none" cap="none" strike="noStrike"/>
          </a:p>
        </p:txBody>
      </p:sp>
      <p:sp>
        <p:nvSpPr>
          <p:cNvPr id="186" name="Google Shape;186;p7"/>
          <p:cNvSpPr/>
          <p:nvPr/>
        </p:nvSpPr>
        <p:spPr>
          <a:xfrm>
            <a:off x="10185456" y="4843794"/>
            <a:ext cx="3334200" cy="74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Reduced time from data collection to insights.</a:t>
            </a:r>
            <a:endParaRPr b="0" i="0" sz="1900" u="none" cap="none" strike="noStrike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92" name="Google Shape;19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0" y="0"/>
            <a:ext cx="5486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8"/>
          <p:cNvSpPr/>
          <p:nvPr/>
        </p:nvSpPr>
        <p:spPr>
          <a:xfrm>
            <a:off x="863798" y="1905595"/>
            <a:ext cx="5609749" cy="7012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Montserrat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Next Steps</a:t>
            </a:r>
            <a:endParaRPr b="0" i="0" sz="4400" u="none" cap="none" strike="noStrike"/>
          </a:p>
        </p:txBody>
      </p:sp>
      <p:sp>
        <p:nvSpPr>
          <p:cNvPr id="194" name="Google Shape;194;p8"/>
          <p:cNvSpPr/>
          <p:nvPr/>
        </p:nvSpPr>
        <p:spPr>
          <a:xfrm>
            <a:off x="863798" y="2977039"/>
            <a:ext cx="185023" cy="868799"/>
          </a:xfrm>
          <a:prstGeom prst="roundRect">
            <a:avLst>
              <a:gd fmla="val 20011" name="adj"/>
            </a:avLst>
          </a:prstGeom>
          <a:solidFill>
            <a:srgbClr val="3031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8"/>
          <p:cNvSpPr/>
          <p:nvPr/>
        </p:nvSpPr>
        <p:spPr>
          <a:xfrm>
            <a:off x="1418987" y="2977039"/>
            <a:ext cx="2804874" cy="350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Enhancements</a:t>
            </a:r>
            <a:endParaRPr b="0" i="0" sz="2200" u="none" cap="none" strike="noStrike"/>
          </a:p>
        </p:txBody>
      </p:sp>
      <p:sp>
        <p:nvSpPr>
          <p:cNvPr id="196" name="Google Shape;196;p8"/>
          <p:cNvSpPr/>
          <p:nvPr/>
        </p:nvSpPr>
        <p:spPr>
          <a:xfrm>
            <a:off x="1418987" y="3475673"/>
            <a:ext cx="6861215" cy="370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Real-time data streaming integration.</a:t>
            </a:r>
            <a:endParaRPr b="0" i="0" sz="1900" u="none" cap="none" strike="noStrike"/>
          </a:p>
        </p:txBody>
      </p:sp>
      <p:sp>
        <p:nvSpPr>
          <p:cNvPr id="197" name="Google Shape;197;p8"/>
          <p:cNvSpPr/>
          <p:nvPr/>
        </p:nvSpPr>
        <p:spPr>
          <a:xfrm>
            <a:off x="1233964" y="4092654"/>
            <a:ext cx="185023" cy="868799"/>
          </a:xfrm>
          <a:prstGeom prst="roundRect">
            <a:avLst>
              <a:gd fmla="val 20011" name="adj"/>
            </a:avLst>
          </a:prstGeom>
          <a:solidFill>
            <a:srgbClr val="3031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8"/>
          <p:cNvSpPr/>
          <p:nvPr/>
        </p:nvSpPr>
        <p:spPr>
          <a:xfrm>
            <a:off x="1789152" y="4092654"/>
            <a:ext cx="2804874" cy="350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Data Quality</a:t>
            </a:r>
            <a:endParaRPr b="0" i="0" sz="2200" u="none" cap="none" strike="noStrike"/>
          </a:p>
        </p:txBody>
      </p:sp>
      <p:sp>
        <p:nvSpPr>
          <p:cNvPr id="199" name="Google Shape;199;p8"/>
          <p:cNvSpPr/>
          <p:nvPr/>
        </p:nvSpPr>
        <p:spPr>
          <a:xfrm>
            <a:off x="1789152" y="4591288"/>
            <a:ext cx="6491049" cy="370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Advanced data quality monitoring.</a:t>
            </a:r>
            <a:endParaRPr b="0" i="0" sz="1900" u="none" cap="none" strike="noStrike"/>
          </a:p>
        </p:txBody>
      </p:sp>
      <p:sp>
        <p:nvSpPr>
          <p:cNvPr id="200" name="Google Shape;200;p8"/>
          <p:cNvSpPr/>
          <p:nvPr/>
        </p:nvSpPr>
        <p:spPr>
          <a:xfrm>
            <a:off x="1604248" y="5208270"/>
            <a:ext cx="185023" cy="868799"/>
          </a:xfrm>
          <a:prstGeom prst="roundRect">
            <a:avLst>
              <a:gd fmla="val 20011" name="adj"/>
            </a:avLst>
          </a:prstGeom>
          <a:solidFill>
            <a:srgbClr val="3031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8"/>
          <p:cNvSpPr/>
          <p:nvPr/>
        </p:nvSpPr>
        <p:spPr>
          <a:xfrm>
            <a:off x="2159437" y="5208270"/>
            <a:ext cx="2845713" cy="350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2200"/>
              <a:buFont typeface="Montserrat"/>
              <a:buNone/>
            </a:pPr>
            <a:r>
              <a:rPr b="1" i="0" lang="en-US" sz="2200" u="none" cap="none" strike="noStrike">
                <a:solidFill>
                  <a:srgbClr val="E2E6E9"/>
                </a:solidFill>
                <a:latin typeface="Montserrat"/>
                <a:ea typeface="Montserrat"/>
                <a:cs typeface="Montserrat"/>
                <a:sym typeface="Montserrat"/>
              </a:rPr>
              <a:t>Future Applications</a:t>
            </a:r>
            <a:endParaRPr b="0" i="0" sz="2200" u="none" cap="none" strike="noStrike"/>
          </a:p>
        </p:txBody>
      </p:sp>
      <p:sp>
        <p:nvSpPr>
          <p:cNvPr id="202" name="Google Shape;202;p8"/>
          <p:cNvSpPr/>
          <p:nvPr/>
        </p:nvSpPr>
        <p:spPr>
          <a:xfrm>
            <a:off x="2159437" y="5706904"/>
            <a:ext cx="6120765" cy="370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2631"/>
              </a:lnSpc>
              <a:spcBef>
                <a:spcPts val="0"/>
              </a:spcBef>
              <a:spcAft>
                <a:spcPts val="0"/>
              </a:spcAft>
              <a:buClr>
                <a:srgbClr val="E2E6E9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E2E6E9"/>
                </a:solidFill>
                <a:latin typeface="Arial"/>
                <a:ea typeface="Arial"/>
                <a:cs typeface="Arial"/>
                <a:sym typeface="Arial"/>
              </a:rPr>
              <a:t>Predictive analytics for sales forecasting.</a:t>
            </a:r>
            <a:endParaRPr b="0" i="0" sz="1900" u="none" cap="none" strike="noStrike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3b135bed8a_1_253"/>
          <p:cNvSpPr txBox="1"/>
          <p:nvPr/>
        </p:nvSpPr>
        <p:spPr>
          <a:xfrm>
            <a:off x="4022600" y="2964725"/>
            <a:ext cx="6350400" cy="12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9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Thank You</a:t>
            </a:r>
            <a:endParaRPr sz="3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2025-03-23T18:27:33Z</dcterms:created>
  <dc:creator>PptxGenJS</dc:creator>
</cp:coreProperties>
</file>
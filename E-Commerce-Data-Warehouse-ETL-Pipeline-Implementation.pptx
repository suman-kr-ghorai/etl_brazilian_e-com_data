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8229600" cx="14630400"/>
  <p:notesSz cx="8229600" cy="14630400"/>
  <p:embeddedFontLst>
    <p:embeddedFont>
      <p:font typeface="Montserrat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mEaGX1wL1+BKmZjf8Y3P4OJMn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C0FD62-21BA-4921-A236-27C14B5AFE28}">
  <a:tblStyle styleId="{B9C0FD62-21BA-4921-A236-27C14B5AFE28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EDED"/>
          </a:solidFill>
        </a:fill>
      </a:tcStyle>
    </a:wholeTbl>
    <a:band1H>
      <a:tcTxStyle/>
      <a:tcStyle>
        <a:fill>
          <a:solidFill>
            <a:srgbClr val="DCDADA"/>
          </a:solidFill>
        </a:fill>
      </a:tcStyle>
    </a:band1H>
    <a:band2H>
      <a:tcTxStyle/>
    </a:band2H>
    <a:band1V>
      <a:tcTxStyle/>
      <a:tcStyle>
        <a:fill>
          <a:solidFill>
            <a:srgbClr val="DCDAD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EEDED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EEDED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b135bed8a_1_246:notes"/>
          <p:cNvSpPr txBox="1"/>
          <p:nvPr>
            <p:ph idx="1" type="body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3b135bed8a_1_246:notes"/>
          <p:cNvSpPr/>
          <p:nvPr>
            <p:ph idx="2" type="sldImg"/>
          </p:nvPr>
        </p:nvSpPr>
        <p:spPr>
          <a:xfrm>
            <a:off x="822960" y="1828800"/>
            <a:ext cx="65838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b135bed8a_2_0:notes"/>
          <p:cNvSpPr txBox="1"/>
          <p:nvPr>
            <p:ph idx="1" type="body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3b135bed8a_2_0:notes"/>
          <p:cNvSpPr/>
          <p:nvPr>
            <p:ph idx="2" type="sldImg"/>
          </p:nvPr>
        </p:nvSpPr>
        <p:spPr>
          <a:xfrm>
            <a:off x="822960" y="1828800"/>
            <a:ext cx="65838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b135bed8a_1_0:notes"/>
          <p:cNvSpPr txBox="1"/>
          <p:nvPr>
            <p:ph idx="1" type="body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b135bed8a_1_0:notes"/>
          <p:cNvSpPr/>
          <p:nvPr>
            <p:ph idx="2" type="sldImg"/>
          </p:nvPr>
        </p:nvSpPr>
        <p:spPr>
          <a:xfrm>
            <a:off x="822960" y="1828800"/>
            <a:ext cx="65838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b2a24487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b2a24487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3b2a24487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b2a24487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3b2a24487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3b2a244876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b2a24487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b2a24487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3b2a24487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b2a24487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b2a24487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3b2a244876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b2a24487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b2a244876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3b2a244876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b2a244876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3b2a24487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3b2a244876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b2a244876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b2a244876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3b2a244876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b2a244876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3b2a244876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3b2a244876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b2a244876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3b2a244876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3b2a244876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b2a244876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b2a244876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3b2a244876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b2a244876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b2a244876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3b2a244876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b2a244876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b2a244876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3b2a244876_1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b2a244876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b2a244876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3b2a244876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b135bed8a_1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3b135bed8a_1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3b135bed8a_1_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3b135bed8a_1_110"/>
          <p:cNvSpPr txBox="1"/>
          <p:nvPr>
            <p:ph type="title"/>
          </p:nvPr>
        </p:nvSpPr>
        <p:spPr>
          <a:xfrm>
            <a:off x="1097280" y="581558"/>
            <a:ext cx="124359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g33b135bed8a_1_110"/>
          <p:cNvSpPr txBox="1"/>
          <p:nvPr>
            <p:ph idx="1" type="body"/>
          </p:nvPr>
        </p:nvSpPr>
        <p:spPr>
          <a:xfrm>
            <a:off x="1097280" y="2545690"/>
            <a:ext cx="12435900" cy="4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200"/>
              <a:buChar char="●"/>
              <a:defRPr sz="2100"/>
            </a:lvl1pPr>
            <a:lvl2pPr indent="-3683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○"/>
              <a:defRPr sz="2100"/>
            </a:lvl2pPr>
            <a:lvl3pPr indent="-3683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■"/>
              <a:defRPr sz="2100"/>
            </a:lvl3pPr>
            <a:lvl4pPr indent="-3683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  <a:defRPr sz="2100"/>
            </a:lvl4pPr>
            <a:lvl5pPr indent="-3683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○"/>
              <a:defRPr sz="2100"/>
            </a:lvl5pPr>
            <a:lvl6pPr indent="-3683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■"/>
              <a:defRPr sz="2100"/>
            </a:lvl6pPr>
            <a:lvl7pPr indent="-3683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  <a:defRPr sz="2100"/>
            </a:lvl7pPr>
            <a:lvl8pPr indent="-3683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○"/>
              <a:defRPr sz="2100"/>
            </a:lvl8pPr>
            <a:lvl9pPr indent="-368300" lvl="8" marL="411480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ts val="2200"/>
              <a:buChar char="■"/>
              <a:defRPr sz="2100"/>
            </a:lvl9pPr>
          </a:lstStyle>
          <a:p/>
        </p:txBody>
      </p:sp>
      <p:sp>
        <p:nvSpPr>
          <p:cNvPr id="46" name="Google Shape;46;g33b135bed8a_1_110"/>
          <p:cNvSpPr txBox="1"/>
          <p:nvPr>
            <p:ph idx="10" type="dt"/>
          </p:nvPr>
        </p:nvSpPr>
        <p:spPr>
          <a:xfrm>
            <a:off x="9587789" y="7527342"/>
            <a:ext cx="3928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g33b135bed8a_1_110"/>
          <p:cNvSpPr txBox="1"/>
          <p:nvPr>
            <p:ph idx="11" type="ftr"/>
          </p:nvPr>
        </p:nvSpPr>
        <p:spPr>
          <a:xfrm>
            <a:off x="1097280" y="7527342"/>
            <a:ext cx="75930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g33b135bed8a_1_110"/>
          <p:cNvSpPr txBox="1"/>
          <p:nvPr>
            <p:ph idx="12" type="sldNum"/>
          </p:nvPr>
        </p:nvSpPr>
        <p:spPr>
          <a:xfrm>
            <a:off x="13573354" y="7527342"/>
            <a:ext cx="7680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100"/>
            </a:lvl1pPr>
            <a:lvl2pPr indent="0" lvl="1" marL="0" algn="ctr">
              <a:spcBef>
                <a:spcPts val="0"/>
              </a:spcBef>
              <a:buNone/>
              <a:defRPr sz="2100"/>
            </a:lvl2pPr>
            <a:lvl3pPr indent="0" lvl="2" marL="0" algn="ctr">
              <a:spcBef>
                <a:spcPts val="0"/>
              </a:spcBef>
              <a:buNone/>
              <a:defRPr sz="2100"/>
            </a:lvl3pPr>
            <a:lvl4pPr indent="0" lvl="3" marL="0" algn="ctr">
              <a:spcBef>
                <a:spcPts val="0"/>
              </a:spcBef>
              <a:buNone/>
              <a:defRPr sz="2100"/>
            </a:lvl4pPr>
            <a:lvl5pPr indent="0" lvl="4" marL="0" algn="ctr">
              <a:spcBef>
                <a:spcPts val="0"/>
              </a:spcBef>
              <a:buNone/>
              <a:defRPr sz="2100"/>
            </a:lvl5pPr>
            <a:lvl6pPr indent="0" lvl="5" marL="0" algn="ctr">
              <a:spcBef>
                <a:spcPts val="0"/>
              </a:spcBef>
              <a:buNone/>
              <a:defRPr sz="2100"/>
            </a:lvl6pPr>
            <a:lvl7pPr indent="0" lvl="6" marL="0" algn="ctr">
              <a:spcBef>
                <a:spcPts val="0"/>
              </a:spcBef>
              <a:buNone/>
              <a:defRPr sz="2100"/>
            </a:lvl7pPr>
            <a:lvl8pPr indent="0" lvl="7" marL="0" algn="ctr">
              <a:spcBef>
                <a:spcPts val="0"/>
              </a:spcBef>
              <a:buNone/>
              <a:defRPr sz="2100"/>
            </a:lvl8pPr>
            <a:lvl9pPr indent="0" lvl="8" marL="0" algn="ctr">
              <a:spcBef>
                <a:spcPts val="0"/>
              </a:spcBef>
              <a:buNone/>
              <a:defRPr sz="2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3b135bed8a_1_226"/>
          <p:cNvSpPr/>
          <p:nvPr/>
        </p:nvSpPr>
        <p:spPr>
          <a:xfrm>
            <a:off x="1105002" y="1616336"/>
            <a:ext cx="12267300" cy="96900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2" ty="-762000" sy="89002"/>
          </a:blipFill>
          <a:ln>
            <a:noFill/>
          </a:ln>
        </p:spPr>
        <p:txBody>
          <a:bodyPr anchorCtr="0" anchor="ctr" bIns="134100" lIns="134100" spcFirstLastPara="1" rIns="134100" wrap="square" tIns="13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3b135bed8a_1_226"/>
          <p:cNvSpPr/>
          <p:nvPr/>
        </p:nvSpPr>
        <p:spPr>
          <a:xfrm>
            <a:off x="1105002" y="5139316"/>
            <a:ext cx="12267300" cy="96900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2" ty="-717550" sy="89002"/>
          </a:blipFill>
          <a:ln>
            <a:noFill/>
          </a:ln>
        </p:spPr>
        <p:txBody>
          <a:bodyPr anchorCtr="0" anchor="ctr" bIns="134100" lIns="134100" spcFirstLastPara="1" rIns="134100" wrap="square" tIns="13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3b135bed8a_1_226"/>
          <p:cNvSpPr/>
          <p:nvPr/>
        </p:nvSpPr>
        <p:spPr>
          <a:xfrm>
            <a:off x="1105002" y="1781735"/>
            <a:ext cx="12267300" cy="3291900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2" ty="-704850" sy="89002"/>
          </a:blipFill>
          <a:ln>
            <a:noFill/>
          </a:ln>
        </p:spPr>
        <p:txBody>
          <a:bodyPr anchorCtr="0" anchor="ctr" bIns="134100" lIns="134100" spcFirstLastPara="1" rIns="134100" wrap="square" tIns="13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3b135bed8a_1_226"/>
          <p:cNvGrpSpPr/>
          <p:nvPr/>
        </p:nvGrpSpPr>
        <p:grpSpPr>
          <a:xfrm>
            <a:off x="11576290" y="4928641"/>
            <a:ext cx="1463106" cy="1097330"/>
            <a:chOff x="9685338" y="4460675"/>
            <a:chExt cx="1080900" cy="1080900"/>
          </a:xfrm>
        </p:grpSpPr>
        <p:sp>
          <p:nvSpPr>
            <p:cNvPr id="54" name="Google Shape;54;g33b135bed8a_1_226"/>
            <p:cNvSpPr/>
            <p:nvPr/>
          </p:nvSpPr>
          <p:spPr>
            <a:xfrm>
              <a:off x="9685338" y="4460675"/>
              <a:ext cx="1080900" cy="108090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4997" ty="0" sy="84997"/>
            </a:blipFill>
            <a:ln>
              <a:noFill/>
            </a:ln>
          </p:spPr>
          <p:txBody>
            <a:bodyPr anchorCtr="0" anchor="ctr" bIns="134100" lIns="134100" spcFirstLastPara="1" rIns="134100" wrap="square" tIns="13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3b135bed8a_1_226"/>
            <p:cNvSpPr/>
            <p:nvPr/>
          </p:nvSpPr>
          <p:spPr>
            <a:xfrm>
              <a:off x="9793429" y="4568765"/>
              <a:ext cx="864600" cy="864600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4100" lIns="134100" spcFirstLastPara="1" rIns="134100" wrap="square" tIns="134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3b135bed8a_1_226"/>
          <p:cNvSpPr txBox="1"/>
          <p:nvPr>
            <p:ph type="ctrTitle"/>
          </p:nvPr>
        </p:nvSpPr>
        <p:spPr>
          <a:xfrm>
            <a:off x="1261872" y="1718668"/>
            <a:ext cx="11960100" cy="3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700"/>
              <a:buFont typeface="Georgia"/>
              <a:buChar char="●"/>
              <a:defRPr b="1" sz="9700" cap="none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" name="Google Shape;57;g33b135bed8a_1_226"/>
          <p:cNvSpPr txBox="1"/>
          <p:nvPr>
            <p:ph idx="1" type="subTitle"/>
          </p:nvPr>
        </p:nvSpPr>
        <p:spPr>
          <a:xfrm>
            <a:off x="1283818" y="5266944"/>
            <a:ext cx="94695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>
            <a:lvl1pPr lv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200"/>
              <a:buNone/>
              <a:defRPr b="0" sz="2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  <a:defRPr sz="26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  <a:defRPr sz="26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  <a:defRPr sz="2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  <a:defRPr sz="2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  <a:defRPr sz="2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  <a:defRPr sz="2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  <a:defRPr sz="2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ts val="2200"/>
              <a:buNone/>
              <a:defRPr sz="2600"/>
            </a:lvl9pPr>
          </a:lstStyle>
          <a:p/>
        </p:txBody>
      </p:sp>
      <p:sp>
        <p:nvSpPr>
          <p:cNvPr id="58" name="Google Shape;58;g33b135bed8a_1_226"/>
          <p:cNvSpPr txBox="1"/>
          <p:nvPr>
            <p:ph idx="10" type="dt"/>
          </p:nvPr>
        </p:nvSpPr>
        <p:spPr>
          <a:xfrm>
            <a:off x="9587789" y="7527342"/>
            <a:ext cx="3928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g33b135bed8a_1_226"/>
          <p:cNvSpPr txBox="1"/>
          <p:nvPr>
            <p:ph idx="11" type="ftr"/>
          </p:nvPr>
        </p:nvSpPr>
        <p:spPr>
          <a:xfrm>
            <a:off x="1097280" y="7527342"/>
            <a:ext cx="75930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g33b135bed8a_1_226"/>
          <p:cNvSpPr txBox="1"/>
          <p:nvPr>
            <p:ph idx="12" type="sldNum"/>
          </p:nvPr>
        </p:nvSpPr>
        <p:spPr>
          <a:xfrm>
            <a:off x="11590848" y="5072634"/>
            <a:ext cx="14328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1" i="0" sz="4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4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4.xml"/><Relationship Id="rId4" Type="http://schemas.openxmlformats.org/officeDocument/2006/relationships/slide" Target="/ppt/slides/slide9.xml"/><Relationship Id="rId5" Type="http://schemas.openxmlformats.org/officeDocument/2006/relationships/slide" Target="/ppt/slides/slide24.xml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b135bed8a_1_246"/>
          <p:cNvSpPr txBox="1"/>
          <p:nvPr>
            <p:ph type="ctrTitle"/>
          </p:nvPr>
        </p:nvSpPr>
        <p:spPr>
          <a:xfrm>
            <a:off x="1125422" y="1624043"/>
            <a:ext cx="11960100" cy="3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700"/>
              <a:buFont typeface="Georgia"/>
              <a:buNone/>
            </a:pPr>
            <a:r>
              <a:rPr b="1" lang="en-US" sz="9700" cap="none"/>
              <a:t>ETL + Analytics for Brazilian E-Commerce</a:t>
            </a:r>
            <a:endParaRPr/>
          </a:p>
        </p:txBody>
      </p:sp>
      <p:sp>
        <p:nvSpPr>
          <p:cNvPr id="66" name="Google Shape;66;g33b135bed8a_1_246"/>
          <p:cNvSpPr txBox="1"/>
          <p:nvPr>
            <p:ph idx="1" type="subTitle"/>
          </p:nvPr>
        </p:nvSpPr>
        <p:spPr>
          <a:xfrm>
            <a:off x="1283818" y="5266944"/>
            <a:ext cx="94695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Using Streamlit, BigQuery, Plotly</a:t>
            </a:r>
            <a:endParaRPr/>
          </a:p>
        </p:txBody>
      </p:sp>
      <p:sp>
        <p:nvSpPr>
          <p:cNvPr id="67" name="Google Shape;67;g33b135bed8a_1_246"/>
          <p:cNvSpPr txBox="1"/>
          <p:nvPr/>
        </p:nvSpPr>
        <p:spPr>
          <a:xfrm>
            <a:off x="1125416" y="7403496"/>
            <a:ext cx="5064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Contents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b135bed8a_2_0"/>
          <p:cNvSpPr txBox="1"/>
          <p:nvPr>
            <p:ph type="title"/>
          </p:nvPr>
        </p:nvSpPr>
        <p:spPr>
          <a:xfrm>
            <a:off x="1755648" y="697870"/>
            <a:ext cx="19897500" cy="23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</a:pPr>
            <a:r>
              <a:rPr lang="en-US"/>
              <a:t>Contents</a:t>
            </a:r>
            <a:endParaRPr/>
          </a:p>
        </p:txBody>
      </p:sp>
      <p:graphicFrame>
        <p:nvGraphicFramePr>
          <p:cNvPr id="73" name="Google Shape;73;g33b135bed8a_2_0"/>
          <p:cNvGraphicFramePr/>
          <p:nvPr/>
        </p:nvGraphicFramePr>
        <p:xfrm>
          <a:off x="871155" y="25403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{B9C0FD62-21BA-4921-A236-27C14B5AFE28}</a:tableStyleId>
              </a:tblPr>
              <a:tblGrid>
                <a:gridCol w="967250"/>
                <a:gridCol w="11173375"/>
                <a:gridCol w="697475"/>
              </a:tblGrid>
              <a:tr h="65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/>
                        <a:t>1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Introduction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  <a:tr h="65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Project </a:t>
                      </a:r>
                      <a:r>
                        <a:rPr lang="en-US" sz="2200"/>
                        <a:t>Architecture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  <a:tr h="70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Etl Process Flow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  <a:tr h="65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4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Schema-Star Schema Design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  <a:tr h="65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5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Data </a:t>
                      </a:r>
                      <a:r>
                        <a:rPr lang="en-US" sz="2200"/>
                        <a:t>Analysis Capabilities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  <a:tr h="65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6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Implementation </a:t>
                      </a:r>
                      <a:r>
                        <a:rPr lang="en-US" sz="2200"/>
                        <a:t>Challenges</a:t>
                      </a:r>
                      <a:endParaRPr sz="22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  <a:tr h="65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7</a:t>
                      </a:r>
                      <a:endParaRPr sz="22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Analysis-Visualizations</a:t>
                      </a:r>
                      <a:endParaRPr sz="22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  <a:tr h="65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Conclusion &amp; Findings -&gt; Next Steps</a:t>
                      </a:r>
                      <a:endParaRPr sz="1700"/>
                    </a:p>
                  </a:txBody>
                  <a:tcPr marT="54875" marB="54875" marR="138150" marL="138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875" marB="54875" marR="138150" marL="138150"/>
                </a:tc>
              </a:tr>
            </a:tbl>
          </a:graphicData>
        </a:graphic>
      </p:graphicFrame>
      <p:sp>
        <p:nvSpPr>
          <p:cNvPr id="74" name="Google Shape;74;g33b135bed8a_2_0"/>
          <p:cNvSpPr txBox="1"/>
          <p:nvPr>
            <p:ph idx="12" type="sldNum"/>
          </p:nvPr>
        </p:nvSpPr>
        <p:spPr>
          <a:xfrm>
            <a:off x="21717366" y="9032810"/>
            <a:ext cx="12288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g33b135bed8a_2_0"/>
          <p:cNvSpPr txBox="1"/>
          <p:nvPr/>
        </p:nvSpPr>
        <p:spPr>
          <a:xfrm>
            <a:off x="1125416" y="7403496"/>
            <a:ext cx="5064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g33b135bed8a_2_0"/>
          <p:cNvSpPr txBox="1"/>
          <p:nvPr/>
        </p:nvSpPr>
        <p:spPr>
          <a:xfrm>
            <a:off x="976600" y="1078725"/>
            <a:ext cx="5988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CONTENTS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/>
          <p:nvPr/>
        </p:nvSpPr>
        <p:spPr>
          <a:xfrm>
            <a:off x="863798" y="2858214"/>
            <a:ext cx="12902803" cy="14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0" i="0" sz="4400" u="none" cap="none" strike="noStrike"/>
          </a:p>
        </p:txBody>
      </p:sp>
      <p:sp>
        <p:nvSpPr>
          <p:cNvPr id="83" name="Google Shape;83;p1"/>
          <p:cNvSpPr/>
          <p:nvPr/>
        </p:nvSpPr>
        <p:spPr>
          <a:xfrm>
            <a:off x="863798" y="4630936"/>
            <a:ext cx="12902803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 comprehensive data engineering solution for e-commerce data. This project automates data processing from multiple sources. It is streamlined for business intelligence and analytics. Built with Python, Streamlit, and Google BigQuery.</a:t>
            </a:r>
            <a:endParaRPr b="0" i="0" sz="1900" u="none" cap="none" strike="noStrike">
              <a:solidFill>
                <a:srgbClr val="E2E6E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Additional functionality to send reports after Analysis.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863798" y="1518572"/>
            <a:ext cx="58542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Architecture</a:t>
            </a:r>
            <a:endParaRPr b="0" i="0" sz="4400" u="none" cap="none" strike="noStrike"/>
          </a:p>
        </p:txBody>
      </p:sp>
      <p:pic>
        <p:nvPicPr>
          <p:cNvPr descr="preencoded.png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798" y="3599140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863798" y="4462939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Data Sources</a:t>
            </a:r>
            <a:endParaRPr b="0" i="0" sz="2200" u="none" cap="none" strike="noStrike"/>
          </a:p>
        </p:txBody>
      </p:sp>
      <p:sp>
        <p:nvSpPr>
          <p:cNvPr id="92" name="Google Shape;92;p2"/>
          <p:cNvSpPr/>
          <p:nvPr/>
        </p:nvSpPr>
        <p:spPr>
          <a:xfrm>
            <a:off x="863798" y="4961573"/>
            <a:ext cx="2947987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Kaggle datasets, MySQL databases, CSV files.</a:t>
            </a:r>
            <a:endParaRPr b="0" i="0" sz="1900" u="none" cap="none" strike="noStrike"/>
          </a:p>
        </p:txBody>
      </p:sp>
      <p:pic>
        <p:nvPicPr>
          <p:cNvPr descr="preencoded.png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1951" y="3599140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4181951" y="4462939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Processing Layer</a:t>
            </a:r>
            <a:endParaRPr b="0" i="0" sz="2200" u="none" cap="none" strike="noStrike"/>
          </a:p>
        </p:txBody>
      </p:sp>
      <p:sp>
        <p:nvSpPr>
          <p:cNvPr id="95" name="Google Shape;95;p2"/>
          <p:cNvSpPr/>
          <p:nvPr/>
        </p:nvSpPr>
        <p:spPr>
          <a:xfrm>
            <a:off x="4181951" y="4961573"/>
            <a:ext cx="2948107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Python-based ETL pipeline.</a:t>
            </a:r>
            <a:endParaRPr b="0" i="0" sz="1900" u="none" cap="none" strike="noStrike"/>
          </a:p>
        </p:txBody>
      </p:sp>
      <p:pic>
        <p:nvPicPr>
          <p:cNvPr descr="preencoded.png"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223" y="3599140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/>
          <p:nvPr/>
        </p:nvSpPr>
        <p:spPr>
          <a:xfrm>
            <a:off x="7500223" y="4462939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Storage Layer</a:t>
            </a:r>
            <a:endParaRPr b="0" i="0" sz="2200" u="none" cap="none" strike="noStrike"/>
          </a:p>
        </p:txBody>
      </p:sp>
      <p:sp>
        <p:nvSpPr>
          <p:cNvPr id="98" name="Google Shape;98;p2"/>
          <p:cNvSpPr/>
          <p:nvPr/>
        </p:nvSpPr>
        <p:spPr>
          <a:xfrm>
            <a:off x="7500223" y="4961573"/>
            <a:ext cx="2948107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Google BigQuery data warehouse.</a:t>
            </a:r>
            <a:endParaRPr b="0" i="0" sz="1900" u="none" cap="none" strike="noStrike"/>
          </a:p>
        </p:txBody>
      </p:sp>
      <p:pic>
        <p:nvPicPr>
          <p:cNvPr descr="preencoded.png" id="99" name="Google Shape;9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18495" y="3599140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0818495" y="4462939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Presentation Layer</a:t>
            </a:r>
            <a:endParaRPr b="0" i="0" sz="2200" u="none" cap="none" strike="noStrike"/>
          </a:p>
        </p:txBody>
      </p:sp>
      <p:sp>
        <p:nvSpPr>
          <p:cNvPr id="101" name="Google Shape;101;p2"/>
          <p:cNvSpPr/>
          <p:nvPr/>
        </p:nvSpPr>
        <p:spPr>
          <a:xfrm>
            <a:off x="10818495" y="4961573"/>
            <a:ext cx="2948107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Streamlit dashboard for ETL monitoring.</a:t>
            </a:r>
            <a:endParaRPr b="0" i="0" sz="1900" u="none" cap="none" strike="noStrike">
              <a:solidFill>
                <a:srgbClr val="E2E6E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</a:rPr>
              <a:t>Report Transfer via Email</a:t>
            </a:r>
            <a:endParaRPr sz="1900">
              <a:solidFill>
                <a:srgbClr val="E2E6E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851297" y="668774"/>
            <a:ext cx="5527834" cy="69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Montserrat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ETL Process Flow</a:t>
            </a:r>
            <a:endParaRPr b="0" i="0" sz="4350" u="none" cap="none" strike="noStrike"/>
          </a:p>
        </p:txBody>
      </p:sp>
      <p:pic>
        <p:nvPicPr>
          <p:cNvPr descr="preencoded.png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297" y="1724501"/>
            <a:ext cx="1216104" cy="145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2432209" y="1967627"/>
            <a:ext cx="2763917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50"/>
              <a:buFont typeface="Montserrat"/>
              <a:buNone/>
            </a:pPr>
            <a:r>
              <a:rPr b="1" i="0" lang="en-US" sz="21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Extract</a:t>
            </a:r>
            <a:endParaRPr b="0" i="0" sz="2150" u="none" cap="none" strike="noStrike"/>
          </a:p>
        </p:txBody>
      </p:sp>
      <p:sp>
        <p:nvSpPr>
          <p:cNvPr id="110" name="Google Shape;110;p3"/>
          <p:cNvSpPr/>
          <p:nvPr/>
        </p:nvSpPr>
        <p:spPr>
          <a:xfrm>
            <a:off x="2432209" y="2458879"/>
            <a:ext cx="11346894" cy="364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Retrieve data from Kaggle, MySQL, and CSV files.</a:t>
            </a:r>
            <a:endParaRPr b="0" i="0" sz="1900" u="none" cap="none" strike="noStrike"/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297" y="3183850"/>
            <a:ext cx="1216104" cy="145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2432209" y="3426976"/>
            <a:ext cx="2763917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50"/>
              <a:buFont typeface="Montserrat"/>
              <a:buNone/>
            </a:pPr>
            <a:r>
              <a:rPr b="1" i="0" lang="en-US" sz="21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Transform</a:t>
            </a:r>
            <a:endParaRPr b="0" i="0" sz="215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2432209" y="3918228"/>
            <a:ext cx="11346894" cy="364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Clean, merge, and restructure data.</a:t>
            </a:r>
            <a:endParaRPr b="0" i="0" sz="1900" u="none" cap="none" strike="noStrike"/>
          </a:p>
        </p:txBody>
      </p:sp>
      <p:pic>
        <p:nvPicPr>
          <p:cNvPr descr="preencoded.png" id="114" name="Google Shape;1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297" y="4643199"/>
            <a:ext cx="1216104" cy="145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2432209" y="4886325"/>
            <a:ext cx="2763917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50"/>
              <a:buFont typeface="Montserrat"/>
              <a:buNone/>
            </a:pPr>
            <a:r>
              <a:rPr b="1" i="0" lang="en-US" sz="21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Load</a:t>
            </a:r>
            <a:endParaRPr b="0" i="0" sz="2150" u="none" cap="none" strike="noStrike"/>
          </a:p>
        </p:txBody>
      </p:sp>
      <p:sp>
        <p:nvSpPr>
          <p:cNvPr id="116" name="Google Shape;116;p3"/>
          <p:cNvSpPr/>
          <p:nvPr/>
        </p:nvSpPr>
        <p:spPr>
          <a:xfrm>
            <a:off x="2432209" y="5377577"/>
            <a:ext cx="11346894" cy="364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Upload to BigQuery in star schema format.</a:t>
            </a:r>
            <a:endParaRPr b="0" i="0" sz="1900" u="none" cap="none" strike="noStrike"/>
          </a:p>
        </p:txBody>
      </p:sp>
      <p:pic>
        <p:nvPicPr>
          <p:cNvPr descr="preencoded.png" id="117" name="Google Shape;11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1297" y="6102548"/>
            <a:ext cx="1216104" cy="145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/>
          <p:nvPr/>
        </p:nvSpPr>
        <p:spPr>
          <a:xfrm>
            <a:off x="2432209" y="6345674"/>
            <a:ext cx="2763917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50"/>
              <a:buFont typeface="Montserrat"/>
              <a:buNone/>
            </a:pPr>
            <a:r>
              <a:rPr b="1" i="0" lang="en-US" sz="21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Analyze</a:t>
            </a:r>
            <a:endParaRPr b="0" i="0" sz="2150" u="none" cap="none" strike="noStrike"/>
          </a:p>
        </p:txBody>
      </p:sp>
      <p:sp>
        <p:nvSpPr>
          <p:cNvPr id="119" name="Google Shape;119;p3"/>
          <p:cNvSpPr/>
          <p:nvPr/>
        </p:nvSpPr>
        <p:spPr>
          <a:xfrm>
            <a:off x="2432209" y="6836926"/>
            <a:ext cx="11346894" cy="364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Create data marts, aggregation tables, and KPIs.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794198" y="1093578"/>
            <a:ext cx="58257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Star Schema Design</a:t>
            </a:r>
            <a:endParaRPr b="0" i="0" sz="440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863798" y="333398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Fact Table</a:t>
            </a:r>
            <a:endParaRPr b="0" i="0" sz="2200" u="none" cap="none" strike="noStrike"/>
          </a:p>
        </p:txBody>
      </p:sp>
      <p:sp>
        <p:nvSpPr>
          <p:cNvPr id="127" name="Google Shape;127;p4"/>
          <p:cNvSpPr/>
          <p:nvPr/>
        </p:nvSpPr>
        <p:spPr>
          <a:xfrm>
            <a:off x="863798" y="3931444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fact_orders (central transaction data)</a:t>
            </a:r>
            <a:endParaRPr b="0" i="0" sz="190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7623929" y="333398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Dimension Tables</a:t>
            </a:r>
            <a:endParaRPr b="0" i="0" sz="220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7623929" y="3931444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900" u="none" cap="none" strike="noStrike"/>
          </a:p>
        </p:txBody>
      </p:sp>
      <p:sp>
        <p:nvSpPr>
          <p:cNvPr id="130" name="Google Shape;130;p4"/>
          <p:cNvSpPr/>
          <p:nvPr/>
        </p:nvSpPr>
        <p:spPr>
          <a:xfrm>
            <a:off x="7623929" y="4387929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dim_products</a:t>
            </a:r>
            <a:endParaRPr b="0" i="0" sz="19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7623929" y="4844415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dim_sellers</a:t>
            </a:r>
            <a:endParaRPr b="0" i="0" sz="1900" u="none" cap="none" strike="noStrike"/>
          </a:p>
        </p:txBody>
      </p:sp>
      <p:sp>
        <p:nvSpPr>
          <p:cNvPr id="132" name="Google Shape;132;p4"/>
          <p:cNvSpPr/>
          <p:nvPr/>
        </p:nvSpPr>
        <p:spPr>
          <a:xfrm>
            <a:off x="7623929" y="5300901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dim_payment_types</a:t>
            </a:r>
            <a:endParaRPr b="0" i="0" sz="1900" u="none" cap="none" strike="noStrike"/>
          </a:p>
        </p:txBody>
      </p:sp>
      <p:sp>
        <p:nvSpPr>
          <p:cNvPr id="133" name="Google Shape;133;p4"/>
          <p:cNvSpPr/>
          <p:nvPr/>
        </p:nvSpPr>
        <p:spPr>
          <a:xfrm>
            <a:off x="7623929" y="5757386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dim_reviews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b135bed8a_1_0"/>
          <p:cNvSpPr txBox="1"/>
          <p:nvPr>
            <p:ph type="title"/>
          </p:nvPr>
        </p:nvSpPr>
        <p:spPr>
          <a:xfrm>
            <a:off x="1097280" y="581558"/>
            <a:ext cx="12435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None/>
            </a:pPr>
            <a:r>
              <a:rPr b="1" lang="en-US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Star Schema Design</a:t>
            </a:r>
            <a:endParaRPr/>
          </a:p>
        </p:txBody>
      </p:sp>
      <p:sp>
        <p:nvSpPr>
          <p:cNvPr id="139" name="Google Shape;139;g33b135bed8a_1_0"/>
          <p:cNvSpPr txBox="1"/>
          <p:nvPr>
            <p:ph idx="12" type="sldNum"/>
          </p:nvPr>
        </p:nvSpPr>
        <p:spPr>
          <a:xfrm>
            <a:off x="13573354" y="7527342"/>
            <a:ext cx="7680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g33b135bed8a_1_0"/>
          <p:cNvSpPr txBox="1"/>
          <p:nvPr/>
        </p:nvSpPr>
        <p:spPr>
          <a:xfrm>
            <a:off x="1125416" y="7403496"/>
            <a:ext cx="5064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Contents</a:t>
            </a:r>
            <a:r>
              <a:rPr lang="en-US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| </a:t>
            </a:r>
            <a:r>
              <a:rPr lang="en-US" sz="26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Previous</a:t>
            </a:r>
            <a:r>
              <a:rPr lang="en-US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| </a:t>
            </a:r>
            <a:r>
              <a:rPr lang="en-US" sz="26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Next</a:t>
            </a:r>
            <a:endParaRPr sz="2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1" name="Google Shape;141;g33b135bed8a_1_0" title="Schema_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125" y="1516600"/>
            <a:ext cx="11580400" cy="60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794198" y="1118397"/>
            <a:ext cx="74247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Analysis Capabilities</a:t>
            </a:r>
            <a:endParaRPr b="0" i="0" sz="440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863798" y="3599140"/>
            <a:ext cx="4136400" cy="2102700"/>
          </a:xfrm>
          <a:prstGeom prst="roundRect">
            <a:avLst>
              <a:gd fmla="val 176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110615" y="3845957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Data Marts</a:t>
            </a:r>
            <a:endParaRPr b="0" i="0" sz="2200" u="none" cap="none" strike="noStrike"/>
          </a:p>
        </p:txBody>
      </p:sp>
      <p:sp>
        <p:nvSpPr>
          <p:cNvPr id="150" name="Google Shape;150;p5"/>
          <p:cNvSpPr/>
          <p:nvPr/>
        </p:nvSpPr>
        <p:spPr>
          <a:xfrm>
            <a:off x="1110615" y="4344591"/>
            <a:ext cx="3642717" cy="111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Customer-centric view, product performance analysis, seller performance metrics.</a:t>
            </a:r>
            <a:endParaRPr b="0" i="0" sz="1900" u="none" cap="none" strike="noStrike"/>
          </a:p>
        </p:txBody>
      </p:sp>
      <p:sp>
        <p:nvSpPr>
          <p:cNvPr id="151" name="Google Shape;151;p5"/>
          <p:cNvSpPr/>
          <p:nvPr/>
        </p:nvSpPr>
        <p:spPr>
          <a:xfrm>
            <a:off x="5246965" y="3599153"/>
            <a:ext cx="4136400" cy="2102700"/>
          </a:xfrm>
          <a:prstGeom prst="roundRect">
            <a:avLst>
              <a:gd fmla="val 176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493782" y="3845957"/>
            <a:ext cx="2825591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Aggregation Tables</a:t>
            </a:r>
            <a:endParaRPr b="0" i="0" sz="2200" u="none" cap="none" strike="noStrike"/>
          </a:p>
        </p:txBody>
      </p:sp>
      <p:sp>
        <p:nvSpPr>
          <p:cNvPr id="153" name="Google Shape;153;p5"/>
          <p:cNvSpPr/>
          <p:nvPr/>
        </p:nvSpPr>
        <p:spPr>
          <a:xfrm>
            <a:off x="5493807" y="4714741"/>
            <a:ext cx="36426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Time-based, geographic, and product category performance.</a:t>
            </a:r>
            <a:endParaRPr b="0" i="0" sz="1900" u="none" cap="none" strike="noStrike"/>
          </a:p>
        </p:txBody>
      </p:sp>
      <p:sp>
        <p:nvSpPr>
          <p:cNvPr id="154" name="Google Shape;154;p5"/>
          <p:cNvSpPr/>
          <p:nvPr/>
        </p:nvSpPr>
        <p:spPr>
          <a:xfrm>
            <a:off x="9630132" y="3599140"/>
            <a:ext cx="4136350" cy="2102763"/>
          </a:xfrm>
          <a:prstGeom prst="roundRect">
            <a:avLst>
              <a:gd fmla="val 176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9876949" y="3845957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KPI Monitoring</a:t>
            </a:r>
            <a:endParaRPr b="0" i="0" sz="2200" u="none" cap="none" strike="noStrike"/>
          </a:p>
        </p:txBody>
      </p:sp>
      <p:sp>
        <p:nvSpPr>
          <p:cNvPr id="156" name="Google Shape;156;p5"/>
          <p:cNvSpPr/>
          <p:nvPr/>
        </p:nvSpPr>
        <p:spPr>
          <a:xfrm>
            <a:off x="9876949" y="4344591"/>
            <a:ext cx="3642717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Sales, customer satisfaction, order fulfillment, payment distribution.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863798" y="819314"/>
            <a:ext cx="80463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Challenges</a:t>
            </a:r>
            <a:endParaRPr b="0" i="0" sz="4400" u="none" cap="none" strike="noStrike"/>
          </a:p>
        </p:txBody>
      </p:sp>
      <p:sp>
        <p:nvSpPr>
          <p:cNvPr id="163" name="Google Shape;163;p6"/>
          <p:cNvSpPr/>
          <p:nvPr/>
        </p:nvSpPr>
        <p:spPr>
          <a:xfrm>
            <a:off x="863798" y="3235487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Quality Issues</a:t>
            </a:r>
            <a:endParaRPr b="0" i="0" sz="220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863798" y="4387929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Handling missing values</a:t>
            </a:r>
            <a:endParaRPr b="0" i="0" sz="1900" u="none" cap="none" strike="noStrike"/>
          </a:p>
        </p:txBody>
      </p:sp>
      <p:sp>
        <p:nvSpPr>
          <p:cNvPr id="165" name="Google Shape;165;p6"/>
          <p:cNvSpPr/>
          <p:nvPr/>
        </p:nvSpPr>
        <p:spPr>
          <a:xfrm>
            <a:off x="863798" y="4844415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Data type inconsistencies</a:t>
            </a:r>
            <a:endParaRPr b="0" i="0" sz="1900" u="none" cap="none" strike="noStrike"/>
          </a:p>
        </p:txBody>
      </p:sp>
      <p:sp>
        <p:nvSpPr>
          <p:cNvPr id="166" name="Google Shape;166;p6"/>
          <p:cNvSpPr/>
          <p:nvPr/>
        </p:nvSpPr>
        <p:spPr>
          <a:xfrm>
            <a:off x="863798" y="5300901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Entity resolution</a:t>
            </a:r>
            <a:endParaRPr b="0" i="0" sz="1900" u="none" cap="none" strike="noStrike"/>
          </a:p>
        </p:txBody>
      </p:sp>
      <p:sp>
        <p:nvSpPr>
          <p:cNvPr id="167" name="Google Shape;167;p6"/>
          <p:cNvSpPr/>
          <p:nvPr/>
        </p:nvSpPr>
        <p:spPr>
          <a:xfrm>
            <a:off x="7623929" y="3235462"/>
            <a:ext cx="30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Challenges</a:t>
            </a:r>
            <a:endParaRPr b="0" i="0" sz="2200" u="none" cap="none" strike="noStrike"/>
          </a:p>
        </p:txBody>
      </p:sp>
      <p:sp>
        <p:nvSpPr>
          <p:cNvPr id="168" name="Google Shape;168;p6"/>
          <p:cNvSpPr/>
          <p:nvPr/>
        </p:nvSpPr>
        <p:spPr>
          <a:xfrm>
            <a:off x="7623929" y="4387929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Integrating data sources</a:t>
            </a:r>
            <a:endParaRPr b="0" i="0" sz="1900" u="none" cap="none" strike="noStrike"/>
          </a:p>
        </p:txBody>
      </p:sp>
      <p:sp>
        <p:nvSpPr>
          <p:cNvPr id="169" name="Google Shape;169;p6"/>
          <p:cNvSpPr/>
          <p:nvPr/>
        </p:nvSpPr>
        <p:spPr>
          <a:xfrm>
            <a:off x="7623929" y="4844415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Optimizing transformations</a:t>
            </a:r>
            <a:endParaRPr b="0" i="0" sz="1900" u="none" cap="none" strike="noStrike"/>
          </a:p>
        </p:txBody>
      </p:sp>
      <p:sp>
        <p:nvSpPr>
          <p:cNvPr id="170" name="Google Shape;170;p6"/>
          <p:cNvSpPr/>
          <p:nvPr/>
        </p:nvSpPr>
        <p:spPr>
          <a:xfrm>
            <a:off x="7623929" y="5300901"/>
            <a:ext cx="6150293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Managing BigQuery limitations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3b2a24487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6325"/>
            <a:ext cx="14325600" cy="6372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3b2a24487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87525"/>
            <a:ext cx="14325599" cy="6476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3b2a244876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725" y="117600"/>
            <a:ext cx="12604350" cy="38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3b2a244876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500" y="4426250"/>
            <a:ext cx="11856200" cy="34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3b2a244876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25602" cy="40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3b2a244876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165250"/>
            <a:ext cx="14396426" cy="39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3b2a244876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25598" cy="39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3b2a244876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000" y="4095650"/>
            <a:ext cx="12509701" cy="38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3b2a244876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477999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3b2a244876_0_28"/>
          <p:cNvPicPr preferRelativeResize="0"/>
          <p:nvPr/>
        </p:nvPicPr>
        <p:blipFill rotWithShape="1">
          <a:blip r:embed="rId4">
            <a:alphaModFix/>
          </a:blip>
          <a:srcRect b="0" l="0" r="635" t="0"/>
          <a:stretch/>
        </p:blipFill>
        <p:spPr>
          <a:xfrm>
            <a:off x="0" y="1886025"/>
            <a:ext cx="14630400" cy="619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3b2a244876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334249" cy="22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3b2a244876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29975"/>
            <a:ext cx="102729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3b2a244876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13" y="4932975"/>
            <a:ext cx="1053390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g33b2a244876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75" y="4775250"/>
            <a:ext cx="14179951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3b2a244876_1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75" y="299575"/>
            <a:ext cx="6628899" cy="461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3b2a244876_1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7575" y="299575"/>
            <a:ext cx="6245775" cy="46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3b2a244876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25" y="93950"/>
            <a:ext cx="12847899" cy="459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3b2a244876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426508"/>
            <a:ext cx="123444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3b2a244876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25600" cy="51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3b2a244876_1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0775"/>
            <a:ext cx="14239825" cy="25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3b2a244876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763500" cy="51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3b2a244876_1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209175"/>
            <a:ext cx="14152827" cy="286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3b2a244876_1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06350" cy="42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3b2a244876_1_37"/>
          <p:cNvPicPr preferRelativeResize="0"/>
          <p:nvPr/>
        </p:nvPicPr>
        <p:blipFill rotWithShape="1">
          <a:blip r:embed="rId4">
            <a:alphaModFix/>
          </a:blip>
          <a:srcRect b="0" l="-5574" r="0" t="0"/>
          <a:stretch/>
        </p:blipFill>
        <p:spPr>
          <a:xfrm>
            <a:off x="6736799" y="890100"/>
            <a:ext cx="7760749" cy="299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3b2a244876_1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304450"/>
            <a:ext cx="14031051" cy="37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3b2a244876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507373" cy="28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3b2a244876_1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34350"/>
            <a:ext cx="9316001" cy="504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"/>
          <p:cNvSpPr/>
          <p:nvPr/>
        </p:nvSpPr>
        <p:spPr>
          <a:xfrm>
            <a:off x="776798" y="1270950"/>
            <a:ext cx="67125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Conclusions &amp; Findings</a:t>
            </a:r>
            <a:endParaRPr b="0" i="0" sz="4400" u="none" cap="none" strike="noStrike"/>
          </a:p>
        </p:txBody>
      </p:sp>
      <p:sp>
        <p:nvSpPr>
          <p:cNvPr id="269" name="Google Shape;269;p7"/>
          <p:cNvSpPr/>
          <p:nvPr/>
        </p:nvSpPr>
        <p:spPr>
          <a:xfrm>
            <a:off x="863798" y="3994547"/>
            <a:ext cx="555308" cy="555308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1665923" y="3994547"/>
            <a:ext cx="3334226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Technical Achievements</a:t>
            </a:r>
            <a:endParaRPr b="0" i="0" sz="2200" u="none" cap="none" strike="noStrike"/>
          </a:p>
        </p:txBody>
      </p:sp>
      <p:sp>
        <p:nvSpPr>
          <p:cNvPr id="271" name="Google Shape;271;p7"/>
          <p:cNvSpPr/>
          <p:nvPr/>
        </p:nvSpPr>
        <p:spPr>
          <a:xfrm>
            <a:off x="1665923" y="4843820"/>
            <a:ext cx="3334226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Integrated data sources and created optimized star schema.</a:t>
            </a:r>
            <a:endParaRPr b="0" i="0" sz="1900" u="none" cap="none" strike="noStrike"/>
          </a:p>
        </p:txBody>
      </p:sp>
      <p:sp>
        <p:nvSpPr>
          <p:cNvPr id="272" name="Google Shape;272;p7"/>
          <p:cNvSpPr/>
          <p:nvPr/>
        </p:nvSpPr>
        <p:spPr>
          <a:xfrm>
            <a:off x="5246965" y="3994547"/>
            <a:ext cx="555308" cy="555308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049089" y="3994547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Business Value</a:t>
            </a:r>
            <a:endParaRPr b="0" i="0" sz="2200" u="none" cap="none" strike="noStrike"/>
          </a:p>
        </p:txBody>
      </p:sp>
      <p:sp>
        <p:nvSpPr>
          <p:cNvPr id="274" name="Google Shape;274;p7"/>
          <p:cNvSpPr/>
          <p:nvPr/>
        </p:nvSpPr>
        <p:spPr>
          <a:xfrm>
            <a:off x="6049089" y="4493181"/>
            <a:ext cx="3334226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Enabled e-commerce analytics and data-driven decisions.</a:t>
            </a:r>
            <a:endParaRPr b="0" i="0" sz="1900" u="none" cap="none" strike="noStrike"/>
          </a:p>
        </p:txBody>
      </p:sp>
      <p:sp>
        <p:nvSpPr>
          <p:cNvPr id="275" name="Google Shape;275;p7"/>
          <p:cNvSpPr/>
          <p:nvPr/>
        </p:nvSpPr>
        <p:spPr>
          <a:xfrm>
            <a:off x="9630132" y="3994547"/>
            <a:ext cx="555308" cy="555308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10432256" y="3994547"/>
            <a:ext cx="3098125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Scalable Architecture</a:t>
            </a:r>
            <a:endParaRPr b="0" i="0" sz="2200" u="none" cap="none" strike="noStrike"/>
          </a:p>
        </p:txBody>
      </p:sp>
      <p:sp>
        <p:nvSpPr>
          <p:cNvPr id="277" name="Google Shape;277;p7"/>
          <p:cNvSpPr/>
          <p:nvPr/>
        </p:nvSpPr>
        <p:spPr>
          <a:xfrm>
            <a:off x="10185456" y="4843794"/>
            <a:ext cx="3334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Reduced time from data collection to insights.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863798" y="1905595"/>
            <a:ext cx="5609749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0" i="0" sz="4400" u="none" cap="none" strike="noStrike"/>
          </a:p>
        </p:txBody>
      </p:sp>
      <p:sp>
        <p:nvSpPr>
          <p:cNvPr id="285" name="Google Shape;285;p8"/>
          <p:cNvSpPr/>
          <p:nvPr/>
        </p:nvSpPr>
        <p:spPr>
          <a:xfrm>
            <a:off x="863798" y="2977039"/>
            <a:ext cx="185023" cy="868799"/>
          </a:xfrm>
          <a:prstGeom prst="roundRect">
            <a:avLst>
              <a:gd fmla="val 2001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1418987" y="2977039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Enhancements</a:t>
            </a:r>
            <a:endParaRPr b="0" i="0" sz="2200" u="none" cap="none" strike="noStrike"/>
          </a:p>
        </p:txBody>
      </p:sp>
      <p:sp>
        <p:nvSpPr>
          <p:cNvPr id="287" name="Google Shape;287;p8"/>
          <p:cNvSpPr/>
          <p:nvPr/>
        </p:nvSpPr>
        <p:spPr>
          <a:xfrm>
            <a:off x="1418987" y="3475673"/>
            <a:ext cx="6861215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Real-time data streaming integration.</a:t>
            </a:r>
            <a:endParaRPr b="0" i="0" sz="1900" u="none" cap="none" strike="noStrike"/>
          </a:p>
        </p:txBody>
      </p:sp>
      <p:sp>
        <p:nvSpPr>
          <p:cNvPr id="288" name="Google Shape;288;p8"/>
          <p:cNvSpPr/>
          <p:nvPr/>
        </p:nvSpPr>
        <p:spPr>
          <a:xfrm>
            <a:off x="1233964" y="4092654"/>
            <a:ext cx="185023" cy="868799"/>
          </a:xfrm>
          <a:prstGeom prst="roundRect">
            <a:avLst>
              <a:gd fmla="val 2001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1789152" y="409265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Data Quality</a:t>
            </a:r>
            <a:endParaRPr b="0" i="0" sz="2200" u="none" cap="none" strike="noStrike"/>
          </a:p>
        </p:txBody>
      </p:sp>
      <p:sp>
        <p:nvSpPr>
          <p:cNvPr id="290" name="Google Shape;290;p8"/>
          <p:cNvSpPr/>
          <p:nvPr/>
        </p:nvSpPr>
        <p:spPr>
          <a:xfrm>
            <a:off x="1789152" y="4591288"/>
            <a:ext cx="6491049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Advanced data quality monitoring.</a:t>
            </a:r>
            <a:endParaRPr b="0" i="0" sz="1900" u="none" cap="none" strike="noStrike"/>
          </a:p>
        </p:txBody>
      </p:sp>
      <p:sp>
        <p:nvSpPr>
          <p:cNvPr id="291" name="Google Shape;291;p8"/>
          <p:cNvSpPr/>
          <p:nvPr/>
        </p:nvSpPr>
        <p:spPr>
          <a:xfrm>
            <a:off x="1604248" y="5208270"/>
            <a:ext cx="185023" cy="868799"/>
          </a:xfrm>
          <a:prstGeom prst="roundRect">
            <a:avLst>
              <a:gd fmla="val 2001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2159437" y="5208270"/>
            <a:ext cx="2845713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Future Applications</a:t>
            </a:r>
            <a:endParaRPr b="0" i="0" sz="2200" u="none" cap="none" strike="noStrike"/>
          </a:p>
        </p:txBody>
      </p:sp>
      <p:sp>
        <p:nvSpPr>
          <p:cNvPr id="293" name="Google Shape;293;p8"/>
          <p:cNvSpPr/>
          <p:nvPr/>
        </p:nvSpPr>
        <p:spPr>
          <a:xfrm>
            <a:off x="2560487" y="6323879"/>
            <a:ext cx="61209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Predictive analytics for sales forecasting.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3b135bed8a_1_253"/>
          <p:cNvSpPr txBox="1"/>
          <p:nvPr/>
        </p:nvSpPr>
        <p:spPr>
          <a:xfrm>
            <a:off x="4022600" y="2964725"/>
            <a:ext cx="6350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2025-03-23T18:27:33Z</dcterms:created>
  <dc:creator>PptxGenJS</dc:creator>
</cp:coreProperties>
</file>